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3.xml" ContentType="application/vnd.openxmlformats-officedocument.presentationml.notesSlide+xml"/>
  <Override PartName="/ppt/charts/chart3.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71" r:id="rId3"/>
    <p:sldId id="277" r:id="rId4"/>
    <p:sldId id="287" r:id="rId5"/>
    <p:sldId id="292" r:id="rId6"/>
    <p:sldId id="289" r:id="rId7"/>
    <p:sldId id="279" r:id="rId8"/>
    <p:sldId id="264" r:id="rId9"/>
    <p:sldId id="281" r:id="rId10"/>
    <p:sldId id="28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61538" autoAdjust="0"/>
  </p:normalViewPr>
  <p:slideViewPr>
    <p:cSldViewPr snapToGrid="0">
      <p:cViewPr varScale="1">
        <p:scale>
          <a:sx n="68" d="100"/>
          <a:sy n="68" d="100"/>
        </p:scale>
        <p:origin x="1604" y="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284" y="-2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24956150278760861"/>
          <c:y val="4.1856925418569252E-2"/>
          <c:w val="0.71458989738181844"/>
          <c:h val="0.85573293064394351"/>
        </c:manualLayout>
      </c:layout>
      <c:barChart>
        <c:barDir val="bar"/>
        <c:grouping val="clustered"/>
        <c:varyColors val="0"/>
        <c:ser>
          <c:idx val="0"/>
          <c:order val="0"/>
          <c:tx>
            <c:strRef>
              <c:f>Sheet1!$B$1</c:f>
              <c:strCache>
                <c:ptCount val="1"/>
                <c:pt idx="0">
                  <c:v>Entities</c:v>
                </c:pt>
              </c:strCache>
            </c:strRef>
          </c:tx>
          <c:spPr>
            <a:solidFill>
              <a:srgbClr val="1C5D7A"/>
            </a:solidFill>
            <a:effectLst/>
          </c:spPr>
          <c:invertIfNegative val="0"/>
          <c:dLbls>
            <c:numFmt formatCode="#,##0" sourceLinked="0"/>
            <c:spPr>
              <a:noFill/>
              <a:ln>
                <a:noFill/>
              </a:ln>
              <a:effectLst/>
            </c:spPr>
            <c:txPr>
              <a:bodyPr/>
              <a:lstStyle/>
              <a:p>
                <a:pPr>
                  <a:defRPr sz="1100" b="1" i="0" u="none" strike="noStrike">
                    <a:solidFill>
                      <a:srgbClr val="0F294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Okanogan</c:v>
                </c:pt>
                <c:pt idx="1">
                  <c:v>Grays Harbor</c:v>
                </c:pt>
                <c:pt idx="2">
                  <c:v>Cowlitz</c:v>
                </c:pt>
                <c:pt idx="3">
                  <c:v>Lincoln</c:v>
                </c:pt>
                <c:pt idx="4">
                  <c:v>Whitman</c:v>
                </c:pt>
                <c:pt idx="5">
                  <c:v>Klickitat</c:v>
                </c:pt>
                <c:pt idx="6">
                  <c:v>Skamania</c:v>
                </c:pt>
                <c:pt idx="7">
                  <c:v>Adams</c:v>
                </c:pt>
                <c:pt idx="8">
                  <c:v>Wahkiakum</c:v>
                </c:pt>
                <c:pt idx="9">
                  <c:v>Asotin</c:v>
                </c:pt>
                <c:pt idx="10">
                  <c:v>Ferry</c:v>
                </c:pt>
              </c:strCache>
            </c:strRef>
          </c:cat>
          <c:val>
            <c:numRef>
              <c:f>Sheet1!$B$2:$B$12</c:f>
              <c:numCache>
                <c:formatCode>General</c:formatCode>
                <c:ptCount val="11"/>
                <c:pt idx="0">
                  <c:v>5</c:v>
                </c:pt>
                <c:pt idx="1">
                  <c:v>2</c:v>
                </c:pt>
                <c:pt idx="2">
                  <c:v>2</c:v>
                </c:pt>
                <c:pt idx="3">
                  <c:v>2</c:v>
                </c:pt>
                <c:pt idx="4">
                  <c:v>1</c:v>
                </c:pt>
                <c:pt idx="5">
                  <c:v>0</c:v>
                </c:pt>
                <c:pt idx="6">
                  <c:v>2</c:v>
                </c:pt>
                <c:pt idx="7">
                  <c:v>1</c:v>
                </c:pt>
                <c:pt idx="8">
                  <c:v>0</c:v>
                </c:pt>
                <c:pt idx="9">
                  <c:v>1</c:v>
                </c:pt>
                <c:pt idx="10">
                  <c:v>1</c:v>
                </c:pt>
              </c:numCache>
            </c:numRef>
          </c:val>
          <c:extLst>
            <c:ext xmlns:c16="http://schemas.microsoft.com/office/drawing/2014/chart" uri="{C3380CC4-5D6E-409C-BE32-E72D297353CC}">
              <c16:uniqueId val="{00000000-C622-4D9E-B629-B89AABD40D5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A6B7C"/>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7DC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B7C"/>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Entities</c:v>
                </c:pt>
              </c:strCache>
            </c:strRef>
          </c:tx>
          <c:spPr>
            <a:solidFill>
              <a:srgbClr val="1C5D7A"/>
            </a:solidFill>
            <a:effectLst/>
          </c:spPr>
          <c:invertIfNegative val="0"/>
          <c:dLbls>
            <c:numFmt formatCode="#,##0" sourceLinked="0"/>
            <c:spPr>
              <a:noFill/>
              <a:ln>
                <a:noFill/>
              </a:ln>
              <a:effectLst/>
            </c:spPr>
            <c:txPr>
              <a:bodyPr/>
              <a:lstStyle/>
              <a:p>
                <a:pPr>
                  <a:defRPr sz="1100" b="1" i="0" u="none" strike="noStrike">
                    <a:solidFill>
                      <a:srgbClr val="0F294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Okanogan</c:v>
                </c:pt>
                <c:pt idx="1">
                  <c:v>Grays Harbor</c:v>
                </c:pt>
                <c:pt idx="2">
                  <c:v>Cowlitz</c:v>
                </c:pt>
                <c:pt idx="3">
                  <c:v>Lincoln</c:v>
                </c:pt>
                <c:pt idx="4">
                  <c:v>Whitman</c:v>
                </c:pt>
                <c:pt idx="5">
                  <c:v>Klickitat</c:v>
                </c:pt>
                <c:pt idx="6">
                  <c:v>Skamania</c:v>
                </c:pt>
                <c:pt idx="7">
                  <c:v>Adams</c:v>
                </c:pt>
                <c:pt idx="8">
                  <c:v>Wahkiakum</c:v>
                </c:pt>
                <c:pt idx="9">
                  <c:v>Asotin</c:v>
                </c:pt>
                <c:pt idx="10">
                  <c:v>Ferry</c:v>
                </c:pt>
              </c:strCache>
            </c:strRef>
          </c:cat>
          <c:val>
            <c:numRef>
              <c:f>Sheet1!$B$2:$B$12</c:f>
              <c:numCache>
                <c:formatCode>General</c:formatCode>
                <c:ptCount val="11"/>
                <c:pt idx="0">
                  <c:v>8</c:v>
                </c:pt>
                <c:pt idx="1">
                  <c:v>7</c:v>
                </c:pt>
                <c:pt idx="2">
                  <c:v>5</c:v>
                </c:pt>
                <c:pt idx="3">
                  <c:v>5</c:v>
                </c:pt>
                <c:pt idx="4">
                  <c:v>5</c:v>
                </c:pt>
                <c:pt idx="5">
                  <c:v>0</c:v>
                </c:pt>
                <c:pt idx="6">
                  <c:v>3</c:v>
                </c:pt>
                <c:pt idx="7">
                  <c:v>2</c:v>
                </c:pt>
                <c:pt idx="8">
                  <c:v>2</c:v>
                </c:pt>
                <c:pt idx="9">
                  <c:v>1</c:v>
                </c:pt>
                <c:pt idx="10">
                  <c:v>1</c:v>
                </c:pt>
              </c:numCache>
            </c:numRef>
          </c:val>
          <c:extLst>
            <c:ext xmlns:c16="http://schemas.microsoft.com/office/drawing/2014/chart" uri="{C3380CC4-5D6E-409C-BE32-E72D297353CC}">
              <c16:uniqueId val="{00000000-53CF-4A3F-B988-383B83E98C5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A6B7C"/>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7DC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B7C"/>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Yes</c:v>
                </c:pt>
              </c:strCache>
            </c:strRef>
          </c:tx>
          <c:spPr>
            <a:solidFill>
              <a:srgbClr val="1C5D7A"/>
            </a:solidFill>
            <a:effectLst/>
          </c:spPr>
          <c:invertIfNegative val="0"/>
          <c:dLbls>
            <c:numFmt formatCode="#,##0" sourceLinked="0"/>
            <c:spPr>
              <a:noFill/>
              <a:ln>
                <a:noFill/>
              </a:ln>
              <a:effectLst/>
            </c:spPr>
            <c:txPr>
              <a:bodyPr/>
              <a:lstStyle/>
              <a:p>
                <a:pPr>
                  <a:defRPr sz="1100" b="1" i="0" u="none" strike="noStrike">
                    <a:solidFill>
                      <a:srgbClr val="0F294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Connection fee</c:v>
                </c:pt>
                <c:pt idx="1">
                  <c:v>SDC</c:v>
                </c:pt>
                <c:pt idx="2">
                  <c:v>Grants</c:v>
                </c:pt>
                <c:pt idx="3">
                  <c:v>Other</c:v>
                </c:pt>
                <c:pt idx="4">
                  <c:v>Tax rates</c:v>
                </c:pt>
                <c:pt idx="5">
                  <c:v>Development charge</c:v>
                </c:pt>
                <c:pt idx="6">
                  <c:v>CFC</c:v>
                </c:pt>
                <c:pt idx="7">
                  <c:v>Impact fee</c:v>
                </c:pt>
              </c:strCache>
            </c:strRef>
          </c:cat>
          <c:val>
            <c:numRef>
              <c:f>Sheet1!$B$2:$B$9</c:f>
              <c:numCache>
                <c:formatCode>General</c:formatCode>
                <c:ptCount val="8"/>
                <c:pt idx="0">
                  <c:v>5</c:v>
                </c:pt>
                <c:pt idx="1">
                  <c:v>6</c:v>
                </c:pt>
                <c:pt idx="2">
                  <c:v>5</c:v>
                </c:pt>
                <c:pt idx="3">
                  <c:v>4</c:v>
                </c:pt>
                <c:pt idx="4">
                  <c:v>4</c:v>
                </c:pt>
                <c:pt idx="5">
                  <c:v>3</c:v>
                </c:pt>
                <c:pt idx="6">
                  <c:v>1</c:v>
                </c:pt>
                <c:pt idx="7">
                  <c:v>1</c:v>
                </c:pt>
              </c:numCache>
            </c:numRef>
          </c:val>
          <c:extLst>
            <c:ext xmlns:c16="http://schemas.microsoft.com/office/drawing/2014/chart" uri="{C3380CC4-5D6E-409C-BE32-E72D297353CC}">
              <c16:uniqueId val="{00000000-4F0B-4DE5-B61A-213EFC66C18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A6B7C"/>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7DC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B7C"/>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Yes</c:v>
                </c:pt>
              </c:strCache>
            </c:strRef>
          </c:tx>
          <c:spPr>
            <a:solidFill>
              <a:srgbClr val="1C5D7A"/>
            </a:solidFill>
            <a:effectLst/>
          </c:spPr>
          <c:invertIfNegative val="0"/>
          <c:dLbls>
            <c:numFmt formatCode="#,##0" sourceLinked="0"/>
            <c:spPr>
              <a:noFill/>
              <a:ln>
                <a:noFill/>
              </a:ln>
              <a:effectLst/>
            </c:spPr>
            <c:txPr>
              <a:bodyPr/>
              <a:lstStyle/>
              <a:p>
                <a:pPr>
                  <a:defRPr sz="1100" b="1" i="0" u="none" strike="noStrike">
                    <a:solidFill>
                      <a:srgbClr val="0F294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Meter location</c:v>
                </c:pt>
                <c:pt idx="1">
                  <c:v>Asset valuation</c:v>
                </c:pt>
                <c:pt idx="2">
                  <c:v>Separate val. tool</c:v>
                </c:pt>
              </c:strCache>
            </c:strRef>
          </c:cat>
          <c:val>
            <c:numRef>
              <c:f>Sheet1!$B$2:$B$4</c:f>
              <c:numCache>
                <c:formatCode>General</c:formatCode>
                <c:ptCount val="3"/>
                <c:pt idx="0">
                  <c:v>13</c:v>
                </c:pt>
                <c:pt idx="1">
                  <c:v>6</c:v>
                </c:pt>
                <c:pt idx="2">
                  <c:v>3</c:v>
                </c:pt>
              </c:numCache>
            </c:numRef>
          </c:val>
          <c:extLst>
            <c:ext xmlns:c16="http://schemas.microsoft.com/office/drawing/2014/chart" uri="{C3380CC4-5D6E-409C-BE32-E72D297353CC}">
              <c16:uniqueId val="{00000000-3B6C-4B5C-843D-F74C8CE9A89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A6B7C"/>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7DC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B7C"/>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1EE633-9A80-4434-90F5-93DE3B017056}"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1BC50F-1DFD-4F77-BC89-3BF55A22FCC8}" type="slidenum">
              <a:rPr lang="en-US" smtClean="0"/>
              <a:t>‹#›</a:t>
            </a:fld>
            <a:endParaRPr lang="en-US"/>
          </a:p>
        </p:txBody>
      </p:sp>
    </p:spTree>
    <p:extLst>
      <p:ext uri="{BB962C8B-B14F-4D97-AF65-F5344CB8AC3E}">
        <p14:creationId xmlns:p14="http://schemas.microsoft.com/office/powerpoint/2010/main" val="3052808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for those of you I haven’t met yet my name is Rowan. Volunteering on behalf of White Salmon City Council, I was tasked with running and analyzing a qualitative survey </a:t>
            </a:r>
            <a:r>
              <a:rPr lang="en-US" sz="1200" kern="1200" dirty="0">
                <a:solidFill>
                  <a:schemeClr val="tx1"/>
                </a:solidFill>
                <a:effectLst/>
                <a:latin typeface="+mn-lt"/>
                <a:ea typeface="+mn-ea"/>
                <a:cs typeface="+mn-cs"/>
              </a:rPr>
              <a:t>on how water systems across WA state are funded.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Over the course of a couple weeks, I got 17 useful interviews out of the 39 public works directors &amp; proper members of staff that I called. I asked each of them 9 questions designed to help us better understand their funding situation and level of similarity to White Salmon.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then combined this information with the most recent population and debt figures available across the board for all 42 of the potential municipalities with a water system. I left Klickitat county out of my surveying population to avoid skewing my data but included them when sourcing population and debt figures for comparison later-on.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Many of the smaller towns lagged behind on reporting their debt and population figures to the state, so I standardized collecting this public data from the year 2024.</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Here’s what I found.</a:t>
            </a:r>
            <a:endParaRPr lang="en-US" sz="1200" b="0" i="0" dirty="0">
              <a:solidFill>
                <a:srgbClr val="1A1A1A"/>
              </a:solidFill>
              <a:effectLst/>
              <a:latin typeface="Georgia" panose="02040502050405020303"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A1A1A"/>
              </a:solidFill>
              <a:effectLst/>
              <a:latin typeface="Georgia" panose="02040502050405020303"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A1A1A"/>
              </a:solidFill>
              <a:effectLst/>
              <a:latin typeface="Georgia" panose="02040502050405020303"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A1A1A"/>
              </a:solidFill>
              <a:effectLst/>
              <a:latin typeface="Georgia" panose="02040502050405020303" pitchFamily="18"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B4EE0-FE32-5B6F-A288-55001AEED4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D0C8FA-3D1E-1E6A-2906-454FE3124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56539-4742-E3F5-BB6C-FCEB3129639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200" kern="1200" dirty="0">
                <a:solidFill>
                  <a:schemeClr val="tx1"/>
                </a:solidFill>
                <a:effectLst/>
                <a:latin typeface="+mn-lt"/>
                <a:ea typeface="+mn-ea"/>
                <a:cs typeface="+mn-cs"/>
              </a:rPr>
              <a:t>System Development Charges are the most common solution high debt towns utilize for directly funding water infrastructure projects in “partial planning” GMA municipalities.</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SDCs are also the most common methodology used across the board, with 6 out of 17 towns utilizing them and an additional 3 towns citing the use of an unspecified development charge of some kind.</a:t>
            </a:r>
          </a:p>
          <a:p>
            <a:endParaRPr lang="en-US" sz="1200" kern="1200" dirty="0">
              <a:solidFill>
                <a:schemeClr val="tx1"/>
              </a:solidFill>
              <a:effectLst/>
              <a:latin typeface="+mn-lt"/>
              <a:ea typeface="+mn-ea"/>
              <a:cs typeface="+mn-cs"/>
            </a:endParaRPr>
          </a:p>
          <a:p>
            <a:pPr algn="l">
              <a:spcAft>
                <a:spcPts val="600"/>
              </a:spcAft>
              <a:buFont typeface="Arial" panose="020B0604020202020204" pitchFamily="34" charset="0"/>
              <a:buNone/>
            </a:pPr>
            <a:endParaRPr lang="en-US" b="0" i="0" dirty="0">
              <a:solidFill>
                <a:srgbClr val="1A1A1A"/>
              </a:solidFill>
              <a:effectLst/>
              <a:latin typeface="Georgia" panose="02040502050405020303" pitchFamily="18" charset="0"/>
            </a:endParaRPr>
          </a:p>
        </p:txBody>
      </p:sp>
      <p:sp>
        <p:nvSpPr>
          <p:cNvPr id="4" name="Slide Number Placeholder 3">
            <a:extLst>
              <a:ext uri="{FF2B5EF4-FFF2-40B4-BE49-F238E27FC236}">
                <a16:creationId xmlns:a16="http://schemas.microsoft.com/office/drawing/2014/main" id="{162540F4-572A-A286-4C6C-AD9E15D4289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2879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35614-7AB4-3C5E-D892-73AB9CE848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CBE36-7980-51BA-4380-FEBEA6883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34B176-2C7B-6337-B74D-54A2EC9F9B91}"/>
              </a:ext>
            </a:extLst>
          </p:cNvPr>
          <p:cNvSpPr>
            <a:spLocks noGrp="1"/>
          </p:cNvSpPr>
          <p:nvPr>
            <p:ph type="body" idx="1"/>
          </p:nvPr>
        </p:nvSpPr>
        <p:spPr/>
        <p:txBody>
          <a:bodyPr/>
          <a:lstStyle/>
          <a:p>
            <a:pPr algn="l">
              <a:spcAft>
                <a:spcPts val="600"/>
              </a:spcAft>
              <a:buFont typeface="Arial" panose="020B0604020202020204" pitchFamily="34" charset="0"/>
              <a:buNone/>
            </a:pPr>
            <a:r>
              <a:rPr lang="en-US" b="0" i="0" dirty="0">
                <a:solidFill>
                  <a:srgbClr val="1A1A1A"/>
                </a:solidFill>
                <a:effectLst/>
                <a:latin typeface="Georgia" panose="02040502050405020303" pitchFamily="18" charset="0"/>
              </a:rPr>
              <a:t>Now to specify what I mean with some of the necessary terms in those statements…</a:t>
            </a:r>
          </a:p>
          <a:p>
            <a:pPr algn="l">
              <a:spcAft>
                <a:spcPts val="600"/>
              </a:spcAft>
              <a:buFont typeface="Arial" panose="020B0604020202020204" pitchFamily="34" charset="0"/>
              <a:buNone/>
            </a:pPr>
            <a:endParaRPr lang="en-US" b="0" i="0" dirty="0">
              <a:solidFill>
                <a:srgbClr val="1A1A1A"/>
              </a:solidFill>
              <a:effectLst/>
              <a:latin typeface="Georgia" panose="02040502050405020303" pitchFamily="18"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200" b="0" i="0" dirty="0">
                <a:solidFill>
                  <a:srgbClr val="1A1A1A"/>
                </a:solidFill>
                <a:effectLst/>
                <a:latin typeface="Georgia" panose="02040502050405020303" pitchFamily="18" charset="0"/>
              </a:rPr>
              <a:t>A System Development Charge, or SDC, is a</a:t>
            </a:r>
            <a:r>
              <a:rPr lang="en-US" sz="1200" dirty="0"/>
              <a:t> fee levied on a developer to pay for the future cost of water infrastructure expansion, based on water meter size (as a proxy for water consumption). It’s specifically designed to ensure that towns don’t take on additional debt whenever existing system capacity is reached and expansions are necessary to increase that capacity. The town gains and saves funds proportional to the total capacity taken up in their system and when the time comes to build, they already have the money.</a:t>
            </a:r>
            <a:endParaRPr lang="en-US" b="0" i="0" dirty="0">
              <a:solidFill>
                <a:srgbClr val="1A1A1A"/>
              </a:solidFill>
              <a:effectLst/>
              <a:latin typeface="Georgia" panose="02040502050405020303" pitchFamily="18" charset="0"/>
            </a:endParaRPr>
          </a:p>
          <a:p>
            <a:pPr algn="l">
              <a:spcAft>
                <a:spcPts val="600"/>
              </a:spcAft>
              <a:buFont typeface="Arial" panose="020B0604020202020204" pitchFamily="34" charset="0"/>
              <a:buNone/>
            </a:pPr>
            <a:endParaRPr lang="en-US" b="0" i="0" dirty="0">
              <a:solidFill>
                <a:srgbClr val="1A1A1A"/>
              </a:solidFill>
              <a:effectLst/>
              <a:latin typeface="Georgia" panose="02040502050405020303" pitchFamily="18" charset="0"/>
            </a:endParaRPr>
          </a:p>
          <a:p>
            <a:pPr algn="l">
              <a:spcAft>
                <a:spcPts val="600"/>
              </a:spcAft>
              <a:buFont typeface="Arial" panose="020B0604020202020204" pitchFamily="34" charset="0"/>
              <a:buNone/>
            </a:pPr>
            <a:r>
              <a:rPr lang="en-US" b="0" i="0" dirty="0">
                <a:solidFill>
                  <a:srgbClr val="1A1A1A"/>
                </a:solidFill>
                <a:effectLst/>
                <a:latin typeface="Georgia" panose="02040502050405020303" pitchFamily="18" charset="0"/>
              </a:rPr>
              <a:t>And when I made that distinction before about “Partial planning” GMA Counties, Klickitat county is classified as a “Partial Planning” GMA County, and that’s why I made the distinction.</a:t>
            </a:r>
          </a:p>
          <a:p>
            <a:pPr algn="l">
              <a:spcAft>
                <a:spcPts val="600"/>
              </a:spcAft>
              <a:buFont typeface="Arial" panose="020B0604020202020204" pitchFamily="34" charset="0"/>
              <a:buNone/>
            </a:pPr>
            <a:endParaRPr lang="en-US" b="0" i="0" dirty="0">
              <a:solidFill>
                <a:srgbClr val="1A1A1A"/>
              </a:solidFill>
              <a:effectLst/>
              <a:latin typeface="Georgia" panose="02040502050405020303" pitchFamily="18" charset="0"/>
            </a:endParaRPr>
          </a:p>
          <a:p>
            <a:pPr algn="l">
              <a:spcAft>
                <a:spcPts val="600"/>
              </a:spcAft>
              <a:buFont typeface="Arial" panose="020B0604020202020204" pitchFamily="34" charset="0"/>
              <a:buNone/>
            </a:pPr>
            <a:r>
              <a:rPr lang="en-US" b="0" i="0" dirty="0">
                <a:solidFill>
                  <a:srgbClr val="1A1A1A"/>
                </a:solidFill>
                <a:effectLst/>
                <a:latin typeface="Georgia" panose="02040502050405020303" pitchFamily="18" charset="0"/>
              </a:rPr>
              <a:t>The Growth Management Act, or GMA, is </a:t>
            </a:r>
            <a:r>
              <a:rPr lang="en-US" sz="1200" dirty="0"/>
              <a:t>a state law that specifies a multitude of regulations surrounding how local governments can levy fees, including water infrastructure fees</a:t>
            </a:r>
          </a:p>
          <a:p>
            <a:pPr algn="l">
              <a:spcAft>
                <a:spcPts val="600"/>
              </a:spcAft>
              <a:buFont typeface="Arial" panose="020B0604020202020204" pitchFamily="34" charset="0"/>
              <a:buNone/>
            </a:pPr>
            <a:endParaRPr lang="en-US" b="0" i="0" dirty="0">
              <a:solidFill>
                <a:srgbClr val="1A1A1A"/>
              </a:solidFill>
              <a:effectLst/>
              <a:latin typeface="Georgia" panose="02040502050405020303" pitchFamily="18" charset="0"/>
            </a:endParaRPr>
          </a:p>
          <a:p>
            <a:pPr algn="l">
              <a:spcAft>
                <a:spcPts val="600"/>
              </a:spcAft>
              <a:buFont typeface="Arial" panose="020B0604020202020204" pitchFamily="34" charset="0"/>
              <a:buNone/>
            </a:pPr>
            <a:r>
              <a:rPr lang="en-US" b="0" i="0" dirty="0">
                <a:solidFill>
                  <a:srgbClr val="1A1A1A"/>
                </a:solidFill>
                <a:effectLst/>
                <a:latin typeface="Georgia" panose="02040502050405020303" pitchFamily="18" charset="0"/>
              </a:rPr>
              <a:t>When Counties are below a population of 50,000 people, they generally fall within the category of a “partial-planning”, or non-GMA, county as opposed to a “full planning” GMA county. Towns like White salmon, located within these “partial planning” counties, must abide </a:t>
            </a:r>
            <a:r>
              <a:rPr lang="en-US" sz="1200" dirty="0"/>
              <a:t>by different fee levying rules than “full planning” GMA counties.</a:t>
            </a:r>
          </a:p>
          <a:p>
            <a:pPr algn="l">
              <a:spcAft>
                <a:spcPts val="600"/>
              </a:spcAft>
              <a:buFont typeface="Arial" panose="020B0604020202020204" pitchFamily="34" charset="0"/>
              <a:buNone/>
            </a:pPr>
            <a:endParaRPr lang="en-US" sz="1200" b="0" i="0" dirty="0">
              <a:solidFill>
                <a:srgbClr val="1A1A1A"/>
              </a:solidFill>
              <a:effectLst/>
              <a:latin typeface="Georgia" panose="02040502050405020303" pitchFamily="18"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200" b="0" i="0" dirty="0">
                <a:solidFill>
                  <a:srgbClr val="1A1A1A"/>
                </a:solidFill>
                <a:effectLst/>
                <a:latin typeface="Georgia" panose="02040502050405020303" pitchFamily="18" charset="0"/>
              </a:rPr>
              <a:t>Since there are 11 total non-GMA counties in WA State, and 42 total municipalities with a separate water system within those counties, that is what makes up our full sample population. If we were to survey cities in “full planning” GMA counties, they wouldn’t provide useful results because their funding rules are inherently different.</a:t>
            </a:r>
          </a:p>
          <a:p>
            <a:pPr algn="l">
              <a:spcAft>
                <a:spcPts val="600"/>
              </a:spcAft>
              <a:buFont typeface="Arial" panose="020B0604020202020204" pitchFamily="34" charset="0"/>
              <a:buNone/>
            </a:pPr>
            <a:endParaRPr lang="en-US" b="0" i="0" dirty="0">
              <a:solidFill>
                <a:srgbClr val="1A1A1A"/>
              </a:solidFill>
              <a:effectLst/>
              <a:latin typeface="Georgia" panose="02040502050405020303" pitchFamily="18" charset="0"/>
            </a:endParaRPr>
          </a:p>
        </p:txBody>
      </p:sp>
      <p:sp>
        <p:nvSpPr>
          <p:cNvPr id="4" name="Slide Number Placeholder 3">
            <a:extLst>
              <a:ext uri="{FF2B5EF4-FFF2-40B4-BE49-F238E27FC236}">
                <a16:creationId xmlns:a16="http://schemas.microsoft.com/office/drawing/2014/main" id="{87A6B297-9915-1F08-76B2-718E1B06744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59524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2192-0D61-8B17-E52B-EA9836054C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5C269C-F6F7-AC22-056A-A4393C2C0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D5B107-5AEB-A721-1770-55FF99F2828D}"/>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The main statistical test I utilized is known as a Mann-Whitney U test.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After completing my interviews with these public works directors, I codified the raw notes I took of their answers into “Yes” or “No” responses for specific sub-questions.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instance, 5 out of 17 towns had expanded their water infrastructure in some way over the past 10 years that did not include connections, providing me a pool of 5 “Yes” answers and 12 “No” answers.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can then look at the level of debt each “Yes” town and each “No” town is in and plot those numbers in two separate graphs, one for each response pool. A Mann-Whitney U test grabs all of the towns from each of those two pools then ranks them all by their debt level, followed by a number of other operations to calculate a U-score. The U-score is then representative of the likelihood that a randomly pulled town from the “Yes” pool will have a higher debt level than that of one from the “No” pool.</a:t>
            </a:r>
          </a:p>
        </p:txBody>
      </p:sp>
      <p:sp>
        <p:nvSpPr>
          <p:cNvPr id="4" name="Slide Number Placeholder 3">
            <a:extLst>
              <a:ext uri="{FF2B5EF4-FFF2-40B4-BE49-F238E27FC236}">
                <a16:creationId xmlns:a16="http://schemas.microsoft.com/office/drawing/2014/main" id="{942F917B-3181-6179-2B44-6202F149A87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2350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6683-3A8D-1538-27A6-C7D326DAD8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AC31D-9EAE-AAC0-2446-F538D6AFE0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658ADC-2524-1E48-E23A-AF58644C5FBD}"/>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Since U-scores change based on the total number of observations, and some questions garnered less useful responses than others, I turned them all into ranked bi-serial effect scores to compare them to one another within the same measurement scale. You can then graph those scores to see how they compare on their association with debt.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Each bar on this graph essentially compares how two distributions differ based on a “Yes” or “No” response, where positive numbers represent “Yes” towns being more associated with high debt and negative numbers represent “No” towns being more associated with high debt. The closer to zero the graph bar is, the less association either response has with debt.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testing the ranked bi-serial correlation of SDC use with different debt types, “Yes” responses are associated with high town debt for the majority of them.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 tested this across 4 different debt metrics, but this particular one is for Capital &amp; Bonded Debt. Water infrastructure projects are never categorized under pension or OPEB debt charges, so its worth excluding them from the full debt totals per town for accuracy's sake.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Right beneath SDC use on that graph is the metric shown on the previous slide, which is, water infrastructure expansions (not including connections).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difference in color between the two is due to a difference in statistical significance. SDC use rejects the null hypothesis with a low enough p-value, while the latter does not. Making it the only useful finding that we would not otherwise attribute to randomness.</a:t>
            </a:r>
          </a:p>
        </p:txBody>
      </p:sp>
      <p:sp>
        <p:nvSpPr>
          <p:cNvPr id="4" name="Slide Number Placeholder 3">
            <a:extLst>
              <a:ext uri="{FF2B5EF4-FFF2-40B4-BE49-F238E27FC236}">
                <a16:creationId xmlns:a16="http://schemas.microsoft.com/office/drawing/2014/main" id="{5D18A39B-9F80-A030-4747-BEFD8BFA2DA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55447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70648-D564-18B7-1A63-8F4AC5512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EB165-49B1-FD29-E48A-B35AA0CFF3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A638E-3AF8-C01F-2086-4E11E6BE1E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1200"/>
              </a:spcAft>
              <a:buClrTx/>
              <a:buSzPct val="100000"/>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This might seem obvious, but just because skiing may be correlated with snowfall, does not mean skiing causes more snow to fall!</a:t>
            </a:r>
          </a:p>
          <a:p>
            <a:pPr marL="0" marR="0" lvl="0" indent="0" algn="l" defTabSz="914400" rtl="0" eaLnBrk="1" fontAlgn="auto" latinLnBrk="0" hangingPunct="1">
              <a:lnSpc>
                <a:spcPct val="100000"/>
              </a:lnSpc>
              <a:spcBef>
                <a:spcPts val="0"/>
              </a:spcBef>
              <a:spcAft>
                <a:spcPts val="1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Pct val="100000"/>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It may be tempting to say that SDC adoption is associated with high debt, therefore it is causing that debt. </a:t>
            </a:r>
          </a:p>
          <a:p>
            <a:pPr marL="0" marR="0" lvl="0" indent="0" algn="l" defTabSz="914400" rtl="0" eaLnBrk="1" fontAlgn="auto" latinLnBrk="0" hangingPunct="1">
              <a:lnSpc>
                <a:spcPct val="100000"/>
              </a:lnSpc>
              <a:spcBef>
                <a:spcPts val="0"/>
              </a:spcBef>
              <a:spcAft>
                <a:spcPts val="1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Pct val="100000"/>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However, there is no way to verifiably prove that with the information we have. Logically speaking, in both cases the reverse scenario is more rational</a:t>
            </a:r>
          </a:p>
          <a:p>
            <a:pPr marL="0" marR="0" lvl="0" indent="0" algn="l" defTabSz="914400" rtl="0" eaLnBrk="1" fontAlgn="auto" latinLnBrk="0" hangingPunct="1">
              <a:lnSpc>
                <a:spcPct val="100000"/>
              </a:lnSpc>
              <a:spcBef>
                <a:spcPts val="0"/>
              </a:spcBef>
              <a:spcAft>
                <a:spcPts val="1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Pct val="100000"/>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Snowfall’s correlation with skiing, may prove that more snow causes more skiing if the proper tests are utilized to prove that relationship.</a:t>
            </a:r>
          </a:p>
          <a:p>
            <a:pPr marL="0" marR="0" lvl="0" indent="0" algn="l" defTabSz="914400" rtl="0" eaLnBrk="1" fontAlgn="auto" latinLnBrk="0" hangingPunct="1">
              <a:lnSpc>
                <a:spcPct val="100000"/>
              </a:lnSpc>
              <a:spcBef>
                <a:spcPts val="0"/>
              </a:spcBef>
              <a:spcAft>
                <a:spcPts val="1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Pct val="100000"/>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In much the same way that it would make more sense to say </a:t>
            </a:r>
            <a:r>
              <a:rPr lang="en-US" sz="1200" kern="1200" dirty="0">
                <a:solidFill>
                  <a:schemeClr val="tx1"/>
                </a:solidFill>
                <a:effectLst/>
                <a:latin typeface="+mn-lt"/>
                <a:ea typeface="+mn-ea"/>
                <a:cs typeface="+mn-cs"/>
              </a:rPr>
              <a:t>that: towns of high debt tend to find themselves utilizing an SDC to solve that debt</a:t>
            </a:r>
          </a:p>
          <a:p>
            <a:pPr marL="0" marR="0" lvl="0" indent="0" algn="l" defTabSz="914400" rtl="0" eaLnBrk="1" fontAlgn="auto" latinLnBrk="0" hangingPunct="1">
              <a:lnSpc>
                <a:spcPct val="100000"/>
              </a:lnSpc>
              <a:spcBef>
                <a:spcPts val="0"/>
              </a:spcBef>
              <a:spcAft>
                <a:spcPts val="1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Pct val="100000"/>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The U tests in this case do a better job of proving commonality than causality</a:t>
            </a:r>
          </a:p>
          <a:p>
            <a:pPr marL="0" marR="0" lvl="0" indent="0" algn="l" defTabSz="914400" rtl="0" eaLnBrk="1" fontAlgn="auto" latinLnBrk="0" hangingPunct="1">
              <a:lnSpc>
                <a:spcPct val="100000"/>
              </a:lnSpc>
              <a:spcBef>
                <a:spcPts val="0"/>
              </a:spcBef>
              <a:spcAft>
                <a:spcPts val="1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Pct val="100000"/>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1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Pct val="100000"/>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“Skiing may be correlated with snowfall, but skiing does not cause more snow to fall!”</a:t>
            </a:r>
          </a:p>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F2A7BDA-07D7-2674-FD1F-C9E15C617BE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07528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Another thing I was tasked with tracking is how GIS tooling is approached by these towns.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found that most towns utilize a GIS tool of some sorts, specifically 14 out of 17 of them. All except one of these 14 towns use it primarily for keeping track of water main locations and general maintenance, while only 6 towns use it for asset valuation.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There was also no notable correlation between GIS tooling use and debt levels, suggesting a lack of commonality in its use as a facet of debt solution.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3110A-4E29-0FDE-68B0-133B9EF4E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F1C1F9-C34B-39C8-EDC7-AE26E8755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C7F113-E6E2-5C13-8065-8A5C56E52497}"/>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Its worth noting that 17 participants is a relatively low number of results to fit any sort of statistical modeling to</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Our P-values trended high across the board, which means that there is a possibility of randomness affecting our results here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can however, fairly assume that there would not be a significant difference in results based on the towns that were missing.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captured 40% of overall sample population &amp; all of the towns I couldn’t get ahold of were at relatively similar levels of debt and population size</a:t>
            </a:r>
          </a:p>
          <a:p>
            <a:pPr algn="l">
              <a:spcAft>
                <a:spcPts val="600"/>
              </a:spcAft>
              <a:buFont typeface="Arial" panose="020B0604020202020204" pitchFamily="34" charset="0"/>
              <a:buNone/>
            </a:pPr>
            <a:endParaRPr lang="en-US" b="0" i="0" dirty="0">
              <a:solidFill>
                <a:srgbClr val="1A1A1A"/>
              </a:solidFill>
              <a:effectLst/>
              <a:latin typeface="Georgia" panose="02040502050405020303" pitchFamily="18" charset="0"/>
            </a:endParaRPr>
          </a:p>
        </p:txBody>
      </p:sp>
      <p:sp>
        <p:nvSpPr>
          <p:cNvPr id="4" name="Slide Number Placeholder 3">
            <a:extLst>
              <a:ext uri="{FF2B5EF4-FFF2-40B4-BE49-F238E27FC236}">
                <a16:creationId xmlns:a16="http://schemas.microsoft.com/office/drawing/2014/main" id="{77178E98-6E72-CECA-3C8D-E823E9E0192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107571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Thank you for taking the time to listen to my presentation!</a:t>
            </a: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771039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1323066"/>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rowanjmedlock/WS_WaterProj_repo"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942"/>
        </a:solidFill>
        <a:effectLst/>
      </p:bgPr>
    </p:bg>
    <p:spTree>
      <p:nvGrpSpPr>
        <p:cNvPr id="1" name=""/>
        <p:cNvGrpSpPr/>
        <p:nvPr/>
      </p:nvGrpSpPr>
      <p:grpSpPr>
        <a:xfrm>
          <a:off x="0" y="0"/>
          <a:ext cx="0" cy="0"/>
          <a:chOff x="0" y="0"/>
          <a:chExt cx="0" cy="0"/>
        </a:xfrm>
      </p:grpSpPr>
      <p:sp>
        <p:nvSpPr>
          <p:cNvPr id="2" name="Text 0"/>
          <p:cNvSpPr/>
          <p:nvPr/>
        </p:nvSpPr>
        <p:spPr>
          <a:xfrm>
            <a:off x="731520" y="1828800"/>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Water System Funding Methods</a:t>
            </a:r>
            <a:endParaRPr kumimoji="0" lang="en-US" sz="4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31520" y="2606040"/>
            <a:ext cx="109728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1" u="none" strike="noStrike" kern="1200" cap="none" spc="0" normalizeH="0" baseline="0" noProof="0" dirty="0">
                <a:ln>
                  <a:noFill/>
                </a:ln>
                <a:solidFill>
                  <a:srgbClr val="7FB8B5"/>
                </a:solidFill>
                <a:effectLst/>
                <a:uLnTx/>
                <a:uFillTx/>
                <a:latin typeface="Georgia" pitchFamily="34" charset="0"/>
                <a:ea typeface="Georgia" pitchFamily="34" charset="-122"/>
                <a:cs typeface="Georgia" pitchFamily="34" charset="-120"/>
              </a:rPr>
              <a:t>Quantitative Analysis of a Survey for Public Works Directors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31520" y="3383280"/>
            <a:ext cx="10972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17 out of 39 entities surveyed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7FB8B5"/>
                </a:solidFill>
                <a:effectLst/>
                <a:uLnTx/>
                <a:uFillTx/>
                <a:latin typeface="Calibri" pitchFamily="34" charset="0"/>
                <a:ea typeface="Calibri" pitchFamily="34" charset="-122"/>
                <a:cs typeface="Calibri" pitchFamily="34" charset="-120"/>
              </a:rPr>
              <a:t>11 Washington counties  ·  9 survey questions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731520" y="5303520"/>
            <a:ext cx="100584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7FB8B5"/>
                </a:solidFill>
                <a:effectLst/>
                <a:uLnTx/>
                <a:uFillTx/>
                <a:latin typeface="Calibri" pitchFamily="34" charset="0"/>
                <a:ea typeface="Calibri" pitchFamily="34" charset="-122"/>
                <a:cs typeface="Calibri" pitchFamily="34" charset="-120"/>
              </a:rPr>
              <a:t>An overview of how various Washington public works staff perceive growth, plan infrastructure, and fund expansion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457200" y="502920"/>
            <a:ext cx="109728" cy="457200"/>
          </a:xfrm>
          <a:prstGeom prst="rect">
            <a:avLst/>
          </a:prstGeom>
          <a:solidFill>
            <a:srgbClr val="E07A3C"/>
          </a:solidFill>
          <a:ln w="12700">
            <a:solidFill>
              <a:srgbClr val="E07A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713232" y="411480"/>
            <a:ext cx="105156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F2942"/>
                </a:solidFill>
                <a:effectLst/>
                <a:uLnTx/>
                <a:uFillTx/>
                <a:latin typeface="Georgia" pitchFamily="34" charset="0"/>
                <a:ea typeface="Georgia" pitchFamily="34" charset="-122"/>
                <a:cs typeface="Georgia" pitchFamily="34" charset="-120"/>
              </a:rPr>
              <a:t>Sample composition</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13232" y="1005840"/>
            <a:ext cx="10515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5A6B7C"/>
                </a:solidFill>
                <a:effectLst/>
                <a:uLnTx/>
                <a:uFillTx/>
                <a:latin typeface="Calibri" pitchFamily="34" charset="0"/>
                <a:ea typeface="Calibri" pitchFamily="34" charset="-122"/>
                <a:cs typeface="Calibri" pitchFamily="34" charset="-120"/>
              </a:rPr>
              <a:t>39 entities · 11 counties · 16 useful responses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457200" y="1379851"/>
            <a:ext cx="10928112" cy="1040216"/>
          </a:xfrm>
          <a:prstGeom prst="rect">
            <a:avLst/>
          </a:prstGeom>
          <a:noFill/>
          <a:ln/>
        </p:spPr>
        <p:txBody>
          <a:bodyPr wrap="square" rtlCol="0" anchor="t"/>
          <a:lstStyle/>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1600" b="0" i="0" u="none" strike="noStrike" kern="1200" cap="none" spc="0" normalizeH="0" baseline="0" noProof="0" dirty="0">
                <a:ln>
                  <a:noFill/>
                </a:ln>
                <a:solidFill>
                  <a:srgbClr val="1A2B3C"/>
                </a:solidFill>
                <a:effectLst/>
                <a:uLnTx/>
                <a:uFillTx/>
                <a:latin typeface="Calibri" pitchFamily="34" charset="0"/>
                <a:ea typeface="Calibri" pitchFamily="34" charset="-122"/>
                <a:cs typeface="Calibri" pitchFamily="34" charset="-120"/>
              </a:rPr>
              <a:t>All towns and PUDs sampled are from the 11 partial-planning GMA counties in WA state. </a:t>
            </a:r>
          </a:p>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1600" b="0" i="0" u="none" strike="noStrike" kern="1200" cap="none" spc="0" normalizeH="0" baseline="0" noProof="0" dirty="0">
                <a:ln>
                  <a:noFill/>
                </a:ln>
                <a:solidFill>
                  <a:srgbClr val="1A2B3C"/>
                </a:solidFill>
                <a:effectLst/>
                <a:uLnTx/>
                <a:uFillTx/>
                <a:latin typeface="Calibri" pitchFamily="34" charset="0"/>
                <a:ea typeface="Calibri" pitchFamily="34" charset="-122"/>
                <a:cs typeface="Calibri" pitchFamily="34" charset="-120"/>
              </a:rPr>
              <a:t>39 out of 42 towns and county-level entities contacted across Washington (no surveying in Klickitat county to avoid skewing data)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1600" b="0" i="0" u="none" strike="noStrike" kern="1200" cap="none" spc="0" normalizeH="0" baseline="0" noProof="0" dirty="0">
                <a:ln>
                  <a:noFill/>
                </a:ln>
                <a:solidFill>
                  <a:srgbClr val="1A2B3C"/>
                </a:solidFill>
                <a:effectLst/>
                <a:uLnTx/>
                <a:uFillTx/>
                <a:latin typeface="Calibri" pitchFamily="34" charset="0"/>
                <a:ea typeface="Calibri" pitchFamily="34" charset="-122"/>
                <a:cs typeface="Calibri" pitchFamily="34" charset="-120"/>
              </a:rPr>
              <a:t>17 surveys (40.5%) yielded useful, codable participation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1600" b="0" i="0" u="none" strike="noStrike" kern="1200" cap="none" spc="0" normalizeH="0" baseline="0" noProof="0" dirty="0">
                <a:ln>
                  <a:noFill/>
                </a:ln>
                <a:solidFill>
                  <a:srgbClr val="1A2B3C"/>
                </a:solidFill>
                <a:effectLst/>
                <a:uLnTx/>
                <a:uFillTx/>
                <a:latin typeface="Calibri" pitchFamily="34" charset="0"/>
                <a:ea typeface="Calibri" pitchFamily="34" charset="-122"/>
                <a:cs typeface="Calibri" pitchFamily="34" charset="-120"/>
              </a:rPr>
              <a:t>Two entries are county-level “Public Utilities Districts" rather than incorporated towns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7" name="Chart 0"/>
          <p:cNvGraphicFramePr/>
          <p:nvPr/>
        </p:nvGraphicFramePr>
        <p:xfrm>
          <a:off x="328290" y="3529206"/>
          <a:ext cx="5592966" cy="294017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457200" y="649224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7C"/>
                </a:solidFill>
                <a:effectLst/>
                <a:uLnTx/>
                <a:uFillTx/>
                <a:latin typeface="Calibri" pitchFamily="34" charset="0"/>
                <a:ea typeface="Calibri" pitchFamily="34" charset="-122"/>
                <a:cs typeface="Calibri" pitchFamily="34" charset="-120"/>
              </a:rPr>
              <a:t>WA GMA Public Works Survey  |  Descriptive Statistics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10789920" y="6492240"/>
            <a:ext cx="9144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7C"/>
                </a:solidFill>
                <a:effectLst/>
                <a:uLnTx/>
                <a:uFillTx/>
                <a:latin typeface="Calibri" pitchFamily="34" charset="0"/>
                <a:ea typeface="Calibri" pitchFamily="34" charset="-122"/>
                <a:cs typeface="Calibri" pitchFamily="34" charset="-120"/>
              </a:rPr>
              <a:t>2 / 11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0" name="Chart 0">
            <a:extLst>
              <a:ext uri="{FF2B5EF4-FFF2-40B4-BE49-F238E27FC236}">
                <a16:creationId xmlns:a16="http://schemas.microsoft.com/office/drawing/2014/main" id="{26BEA2E2-FDFE-A6D1-66CF-F71CA877B177}"/>
              </a:ext>
            </a:extLst>
          </p:cNvPr>
          <p:cNvGraphicFramePr/>
          <p:nvPr/>
        </p:nvGraphicFramePr>
        <p:xfrm>
          <a:off x="6358862" y="3506346"/>
          <a:ext cx="5187330" cy="2940174"/>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2">
            <a:extLst>
              <a:ext uri="{FF2B5EF4-FFF2-40B4-BE49-F238E27FC236}">
                <a16:creationId xmlns:a16="http://schemas.microsoft.com/office/drawing/2014/main" id="{13EE6BD7-C8C3-99E2-3F2F-595B4F3ECF48}"/>
              </a:ext>
            </a:extLst>
          </p:cNvPr>
          <p:cNvSpPr/>
          <p:nvPr/>
        </p:nvSpPr>
        <p:spPr>
          <a:xfrm>
            <a:off x="457200" y="3140586"/>
            <a:ext cx="3991047"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5A6B7C"/>
                </a:solidFill>
                <a:effectLst/>
                <a:uLnTx/>
                <a:uFillTx/>
                <a:latin typeface="Calibri" pitchFamily="34" charset="0"/>
                <a:ea typeface="Calibri" pitchFamily="34" charset="-122"/>
                <a:cs typeface="Calibri" pitchFamily="34" charset="-120"/>
              </a:rPr>
              <a:t>Surveys per county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2">
            <a:extLst>
              <a:ext uri="{FF2B5EF4-FFF2-40B4-BE49-F238E27FC236}">
                <a16:creationId xmlns:a16="http://schemas.microsoft.com/office/drawing/2014/main" id="{65DFBE1A-9534-A201-DCA6-420506E44CC6}"/>
              </a:ext>
            </a:extLst>
          </p:cNvPr>
          <p:cNvSpPr/>
          <p:nvPr/>
        </p:nvSpPr>
        <p:spPr>
          <a:xfrm>
            <a:off x="6515387" y="3123056"/>
            <a:ext cx="3991047"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5A6B7C"/>
                </a:solidFill>
                <a:effectLst/>
                <a:uLnTx/>
                <a:uFillTx/>
                <a:latin typeface="Calibri" pitchFamily="34" charset="0"/>
                <a:ea typeface="Calibri" pitchFamily="34" charset="-122"/>
                <a:cs typeface="Calibri" pitchFamily="34" charset="-120"/>
              </a:rPr>
              <a:t>Attempted surveys per county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631D7-C1C5-B0F4-C401-28E75154FD1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22C2FD1-43EE-0B9F-A0E0-472D98AFEE20}"/>
              </a:ext>
            </a:extLst>
          </p:cNvPr>
          <p:cNvSpPr/>
          <p:nvPr/>
        </p:nvSpPr>
        <p:spPr>
          <a:xfrm>
            <a:off x="457200" y="502920"/>
            <a:ext cx="109728" cy="457200"/>
          </a:xfrm>
          <a:prstGeom prst="rect">
            <a:avLst/>
          </a:prstGeom>
          <a:solidFill>
            <a:srgbClr val="E07A3C"/>
          </a:solidFill>
          <a:ln w="12700">
            <a:solidFill>
              <a:srgbClr val="E07A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70B886F-CD36-A11A-B954-EDD0952E8E9B}"/>
              </a:ext>
            </a:extLst>
          </p:cNvPr>
          <p:cNvSpPr/>
          <p:nvPr/>
        </p:nvSpPr>
        <p:spPr>
          <a:xfrm>
            <a:off x="668518" y="907931"/>
            <a:ext cx="10515600" cy="1369612"/>
          </a:xfrm>
          <a:prstGeom prst="rect">
            <a:avLst/>
          </a:prstGeom>
          <a:noFill/>
          <a:ln/>
        </p:spPr>
        <p:txBody>
          <a:bodyPr wrap="square" lIns="0" tIns="0" rIns="0" bIns="0" rtlCol="0" anchor="ctr"/>
          <a:lstStyle/>
          <a:p>
            <a:r>
              <a:rPr lang="en-US" sz="2800" dirty="0"/>
              <a:t>SDC use is the most common solution high debt towns utilize for directly funding water infrastructure projects in non-GMA municipalities.</a:t>
            </a:r>
          </a:p>
        </p:txBody>
      </p:sp>
      <p:sp>
        <p:nvSpPr>
          <p:cNvPr id="5" name="Text 3">
            <a:extLst>
              <a:ext uri="{FF2B5EF4-FFF2-40B4-BE49-F238E27FC236}">
                <a16:creationId xmlns:a16="http://schemas.microsoft.com/office/drawing/2014/main" id="{3078D9AD-730B-720D-CE4A-0EB3C41B3CE3}"/>
              </a:ext>
            </a:extLst>
          </p:cNvPr>
          <p:cNvSpPr/>
          <p:nvPr/>
        </p:nvSpPr>
        <p:spPr>
          <a:xfrm>
            <a:off x="566928" y="2653018"/>
            <a:ext cx="5015845" cy="2421902"/>
          </a:xfrm>
          <a:prstGeom prst="rect">
            <a:avLst/>
          </a:prstGeom>
          <a:noFill/>
          <a:ln/>
        </p:spPr>
        <p:txBody>
          <a:bodyPr wrap="square" rtlCol="0" anchor="t"/>
          <a:lstStyle/>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It’s the most common across the board: 6 out of 17 towns utilize it</a:t>
            </a:r>
          </a:p>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lang="en-US" sz="2400" dirty="0">
                <a:solidFill>
                  <a:prstClr val="black"/>
                </a:solidFill>
                <a:latin typeface="Calibri" panose="020F0502020204030204"/>
              </a:rPr>
              <a:t>An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additional 3 towns cited a development charge of some kind as well</a:t>
            </a:r>
          </a:p>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When testing its bi-serial ranked correlation with different debt types, it consistently scores high</a:t>
            </a:r>
          </a:p>
          <a:p>
            <a:pPr marL="0" marR="0" lvl="0" indent="0" algn="l" defTabSz="914400" rtl="0" eaLnBrk="1" fontAlgn="auto" latinLnBrk="0" hangingPunct="1">
              <a:lnSpc>
                <a:spcPct val="100000"/>
              </a:lnSpc>
              <a:spcBef>
                <a:spcPts val="0"/>
              </a:spcBef>
              <a:spcAft>
                <a:spcPts val="1200"/>
              </a:spcAft>
              <a:buClrTx/>
              <a:buSzPct val="100000"/>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D19EBEAF-D5E5-6EAE-9B9B-96C292D98483}"/>
              </a:ext>
            </a:extLst>
          </p:cNvPr>
          <p:cNvSpPr/>
          <p:nvPr/>
        </p:nvSpPr>
        <p:spPr>
          <a:xfrm>
            <a:off x="457200" y="649224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7C"/>
                </a:solidFill>
                <a:effectLst/>
                <a:uLnTx/>
                <a:uFillTx/>
                <a:latin typeface="Calibri" pitchFamily="34" charset="0"/>
                <a:ea typeface="Calibri" pitchFamily="34" charset="-122"/>
                <a:cs typeface="Calibri" pitchFamily="34" charset="-120"/>
              </a:rPr>
              <a:t>WA GMA Public Works Survey  |  Descriptive Statistics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a:extLst>
              <a:ext uri="{FF2B5EF4-FFF2-40B4-BE49-F238E27FC236}">
                <a16:creationId xmlns:a16="http://schemas.microsoft.com/office/drawing/2014/main" id="{B02A208E-B9F7-FC9F-5A80-D1AE9444C0FB}"/>
              </a:ext>
            </a:extLst>
          </p:cNvPr>
          <p:cNvSpPr/>
          <p:nvPr/>
        </p:nvSpPr>
        <p:spPr>
          <a:xfrm>
            <a:off x="10789920" y="6492240"/>
            <a:ext cx="9144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7C"/>
                </a:solidFill>
                <a:effectLst/>
                <a:uLnTx/>
                <a:uFillTx/>
                <a:latin typeface="Calibri" pitchFamily="34" charset="0"/>
                <a:ea typeface="Calibri" pitchFamily="34" charset="-122"/>
                <a:cs typeface="Calibri" pitchFamily="34" charset="-120"/>
              </a:rPr>
              <a:t>2 / 11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1">
            <a:extLst>
              <a:ext uri="{FF2B5EF4-FFF2-40B4-BE49-F238E27FC236}">
                <a16:creationId xmlns:a16="http://schemas.microsoft.com/office/drawing/2014/main" id="{31FDF8BA-B531-5C1F-8C5E-D2D2B81CA9AB}"/>
              </a:ext>
            </a:extLst>
          </p:cNvPr>
          <p:cNvSpPr/>
          <p:nvPr/>
        </p:nvSpPr>
        <p:spPr>
          <a:xfrm>
            <a:off x="713232" y="411480"/>
            <a:ext cx="105156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F2942"/>
                </a:solidFill>
                <a:effectLst/>
                <a:uLnTx/>
                <a:uFillTx/>
                <a:latin typeface="Georgia" pitchFamily="34" charset="0"/>
                <a:ea typeface="Georgia" pitchFamily="34" charset="-122"/>
                <a:cs typeface="Georgia" pitchFamily="34" charset="-120"/>
              </a:rPr>
              <a:t>Main Findings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4">
            <a:extLst>
              <a:ext uri="{FF2B5EF4-FFF2-40B4-BE49-F238E27FC236}">
                <a16:creationId xmlns:a16="http://schemas.microsoft.com/office/drawing/2014/main" id="{D1A68D71-620E-CF91-DFED-E6E7EE40112E}"/>
              </a:ext>
            </a:extLst>
          </p:cNvPr>
          <p:cNvSpPr/>
          <p:nvPr/>
        </p:nvSpPr>
        <p:spPr>
          <a:xfrm>
            <a:off x="7772400" y="2468880"/>
            <a:ext cx="1890074" cy="305114"/>
          </a:xfrm>
          <a:prstGeom prst="rect">
            <a:avLst/>
          </a:prstGeom>
          <a:noFill/>
          <a:ln/>
        </p:spPr>
        <p:txBody>
          <a:bodyPr wrap="square" lIns="0" tIns="0" rIns="0" bIns="0" rtlCol="0" anchor="ctr"/>
          <a:lstStyle/>
          <a:p>
            <a:pPr marL="0" indent="0">
              <a:buNone/>
            </a:pPr>
            <a:r>
              <a:rPr lang="en-US" sz="1300" b="1" dirty="0">
                <a:solidFill>
                  <a:srgbClr val="0F2942"/>
                </a:solidFill>
                <a:latin typeface="Calibri" pitchFamily="34" charset="0"/>
                <a:ea typeface="Calibri" pitchFamily="34" charset="-122"/>
                <a:cs typeface="Calibri" pitchFamily="34" charset="-120"/>
              </a:rPr>
              <a:t>Funding mechanisms used</a:t>
            </a:r>
            <a:endParaRPr lang="en-US" sz="1300" dirty="0"/>
          </a:p>
        </p:txBody>
      </p:sp>
      <p:graphicFrame>
        <p:nvGraphicFramePr>
          <p:cNvPr id="21" name="Chart 0">
            <a:extLst>
              <a:ext uri="{FF2B5EF4-FFF2-40B4-BE49-F238E27FC236}">
                <a16:creationId xmlns:a16="http://schemas.microsoft.com/office/drawing/2014/main" id="{7A111CD2-4C67-461D-6653-33721A71B6B5}"/>
              </a:ext>
            </a:extLst>
          </p:cNvPr>
          <p:cNvGraphicFramePr/>
          <p:nvPr>
            <p:extLst>
              <p:ext uri="{D42A27DB-BD31-4B8C-83A1-F6EECF244321}">
                <p14:modId xmlns:p14="http://schemas.microsoft.com/office/powerpoint/2010/main" val="1027248448"/>
              </p:ext>
            </p:extLst>
          </p:nvPr>
        </p:nvGraphicFramePr>
        <p:xfrm>
          <a:off x="5926318" y="2759227"/>
          <a:ext cx="5302514" cy="357558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16377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FCCC8-5438-9460-D124-ECB7DE08401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E9A827C-E86E-A4E9-83E5-BDA09708EE03}"/>
              </a:ext>
            </a:extLst>
          </p:cNvPr>
          <p:cNvSpPr/>
          <p:nvPr/>
        </p:nvSpPr>
        <p:spPr>
          <a:xfrm>
            <a:off x="457200" y="502920"/>
            <a:ext cx="109728" cy="457200"/>
          </a:xfrm>
          <a:prstGeom prst="rect">
            <a:avLst/>
          </a:prstGeom>
          <a:solidFill>
            <a:srgbClr val="E07A3C"/>
          </a:solidFill>
          <a:ln w="12700">
            <a:solidFill>
              <a:srgbClr val="E07A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D866A20D-1357-8FB8-FBBD-A2BDF0A34AF1}"/>
              </a:ext>
            </a:extLst>
          </p:cNvPr>
          <p:cNvSpPr/>
          <p:nvPr/>
        </p:nvSpPr>
        <p:spPr>
          <a:xfrm>
            <a:off x="512064" y="1306084"/>
            <a:ext cx="10515600" cy="4840192"/>
          </a:xfrm>
          <a:prstGeom prst="rect">
            <a:avLst/>
          </a:prstGeom>
          <a:noFill/>
          <a:ln/>
        </p:spPr>
        <p:txBody>
          <a:bodyPr wrap="square" lIns="0" tIns="0" rIns="0" bIns="0" rtlCol="0" anchor="ctr"/>
          <a:lstStyle/>
          <a:p>
            <a:endParaRPr lang="en-US" sz="2800" dirty="0"/>
          </a:p>
          <a:p>
            <a:endParaRPr lang="en-US" sz="2800" dirty="0"/>
          </a:p>
          <a:p>
            <a:endParaRPr lang="en-US" sz="2800" dirty="0"/>
          </a:p>
          <a:p>
            <a:endParaRPr lang="en-US" sz="2800" dirty="0"/>
          </a:p>
          <a:p>
            <a:endParaRPr lang="en-US" sz="2800" dirty="0"/>
          </a:p>
          <a:p>
            <a:endParaRPr lang="en-US" sz="2800" dirty="0"/>
          </a:p>
          <a:p>
            <a:endParaRPr lang="en-US" sz="2400" dirty="0"/>
          </a:p>
          <a:p>
            <a:r>
              <a:rPr lang="en-US" sz="2400" dirty="0"/>
              <a:t>System Development Charge (SDC): A fee levied on a developer to pay for the future cost of water infrastructure expansion, based on water meter size (a proxy for water consumption)</a:t>
            </a:r>
          </a:p>
          <a:p>
            <a:endParaRPr lang="en-US" sz="2400" dirty="0"/>
          </a:p>
          <a:p>
            <a:r>
              <a:rPr lang="en-US" sz="2400" dirty="0"/>
              <a:t>Growth Management Act (GMA): a state law that specifies a multitude of regulations surrounding how local governments can levy fees, including water infrastructure fees</a:t>
            </a:r>
          </a:p>
          <a:p>
            <a:endParaRPr lang="en-US" sz="2400" dirty="0"/>
          </a:p>
          <a:p>
            <a:r>
              <a:rPr lang="en-US" sz="2400" dirty="0"/>
              <a:t>“Partial-planning” (non-GMA) Counties: Counties with a population below 50,000 people. Towns within them abide by different fee levying rules than “full planning” GMA counties</a:t>
            </a:r>
          </a:p>
          <a:p>
            <a:endParaRPr lang="en-US" sz="2400" dirty="0"/>
          </a:p>
          <a:p>
            <a:r>
              <a:rPr lang="en-US" sz="2400" dirty="0">
                <a:solidFill>
                  <a:schemeClr val="accent2">
                    <a:lumMod val="75000"/>
                  </a:schemeClr>
                </a:solidFill>
              </a:rPr>
              <a:t>Klickitat County is a “Partial-planning” GMA County</a:t>
            </a: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p:txBody>
      </p:sp>
      <p:sp>
        <p:nvSpPr>
          <p:cNvPr id="8" name="Text 5">
            <a:extLst>
              <a:ext uri="{FF2B5EF4-FFF2-40B4-BE49-F238E27FC236}">
                <a16:creationId xmlns:a16="http://schemas.microsoft.com/office/drawing/2014/main" id="{A7A70557-E5EA-441F-2FA7-37DFF79902AA}"/>
              </a:ext>
            </a:extLst>
          </p:cNvPr>
          <p:cNvSpPr/>
          <p:nvPr/>
        </p:nvSpPr>
        <p:spPr>
          <a:xfrm>
            <a:off x="457200" y="649224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7C"/>
                </a:solidFill>
                <a:effectLst/>
                <a:uLnTx/>
                <a:uFillTx/>
                <a:latin typeface="Calibri" pitchFamily="34" charset="0"/>
                <a:ea typeface="Calibri" pitchFamily="34" charset="-122"/>
                <a:cs typeface="Calibri" pitchFamily="34" charset="-120"/>
              </a:rPr>
              <a:t>WA GMA Public Works Survey  |  Descriptive Statistics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a:extLst>
              <a:ext uri="{FF2B5EF4-FFF2-40B4-BE49-F238E27FC236}">
                <a16:creationId xmlns:a16="http://schemas.microsoft.com/office/drawing/2014/main" id="{CF9EA903-767E-EB4C-F409-BF0BF830EA64}"/>
              </a:ext>
            </a:extLst>
          </p:cNvPr>
          <p:cNvSpPr/>
          <p:nvPr/>
        </p:nvSpPr>
        <p:spPr>
          <a:xfrm>
            <a:off x="10789920" y="6492240"/>
            <a:ext cx="9144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7C"/>
                </a:solidFill>
                <a:effectLst/>
                <a:uLnTx/>
                <a:uFillTx/>
                <a:latin typeface="Calibri" pitchFamily="34" charset="0"/>
                <a:ea typeface="Calibri" pitchFamily="34" charset="-122"/>
                <a:cs typeface="Calibri" pitchFamily="34" charset="-120"/>
              </a:rPr>
              <a:t>2 / 11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1">
            <a:extLst>
              <a:ext uri="{FF2B5EF4-FFF2-40B4-BE49-F238E27FC236}">
                <a16:creationId xmlns:a16="http://schemas.microsoft.com/office/drawing/2014/main" id="{76AD3A0F-C3B4-BC92-E1F9-333815F51919}"/>
              </a:ext>
            </a:extLst>
          </p:cNvPr>
          <p:cNvSpPr/>
          <p:nvPr/>
        </p:nvSpPr>
        <p:spPr>
          <a:xfrm>
            <a:off x="713232" y="411480"/>
            <a:ext cx="105156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F2942"/>
                </a:solidFill>
                <a:effectLst/>
                <a:uLnTx/>
                <a:uFillTx/>
                <a:latin typeface="Georgia" pitchFamily="34" charset="0"/>
                <a:ea typeface="Georgia" pitchFamily="34" charset="-122"/>
                <a:cs typeface="Georgia" pitchFamily="34" charset="-120"/>
              </a:rPr>
              <a:t>Definitions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5371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0FF4E-C760-C4F2-6BA4-911B121CA89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728028D-2CAB-6AA3-D0BB-7319DF6EC05A}"/>
              </a:ext>
            </a:extLst>
          </p:cNvPr>
          <p:cNvSpPr/>
          <p:nvPr/>
        </p:nvSpPr>
        <p:spPr>
          <a:xfrm>
            <a:off x="457200" y="274320"/>
            <a:ext cx="109728" cy="457200"/>
          </a:xfrm>
          <a:prstGeom prst="rect">
            <a:avLst/>
          </a:prstGeom>
          <a:solidFill>
            <a:srgbClr val="E07A3C"/>
          </a:solidFill>
          <a:ln w="12700">
            <a:solidFill>
              <a:srgbClr val="E07A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300555CA-D7C0-4923-25F8-066DE5EC54CB}"/>
              </a:ext>
            </a:extLst>
          </p:cNvPr>
          <p:cNvSpPr/>
          <p:nvPr/>
        </p:nvSpPr>
        <p:spPr>
          <a:xfrm>
            <a:off x="512064" y="1306084"/>
            <a:ext cx="10515600" cy="4840192"/>
          </a:xfrm>
          <a:prstGeom prst="rect">
            <a:avLst/>
          </a:prstGeom>
          <a:noFill/>
          <a:ln/>
        </p:spPr>
        <p:txBody>
          <a:bodyPr wrap="square" lIns="0" tIns="0" rIns="0" bIns="0" rtlCol="0" anchor="ctr"/>
          <a:lstStyle/>
          <a:p>
            <a:endParaRPr lang="en-US" sz="2800" dirty="0"/>
          </a:p>
          <a:p>
            <a:endParaRPr lang="en-US" sz="2800" dirty="0"/>
          </a:p>
          <a:p>
            <a:endParaRPr lang="en-US" sz="2800" dirty="0"/>
          </a:p>
          <a:p>
            <a:endParaRPr lang="en-US" sz="2800" dirty="0"/>
          </a:p>
          <a:p>
            <a:endParaRPr lang="en-US" sz="2800" dirty="0"/>
          </a:p>
          <a:p>
            <a:endParaRPr lang="en-US" sz="2800" dirty="0"/>
          </a:p>
          <a:p>
            <a:endParaRPr lang="en-US" sz="24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p:txBody>
      </p:sp>
      <p:sp>
        <p:nvSpPr>
          <p:cNvPr id="8" name="Text 5">
            <a:extLst>
              <a:ext uri="{FF2B5EF4-FFF2-40B4-BE49-F238E27FC236}">
                <a16:creationId xmlns:a16="http://schemas.microsoft.com/office/drawing/2014/main" id="{B86A81E6-EDAA-7FFB-373B-D99CFAADDB7F}"/>
              </a:ext>
            </a:extLst>
          </p:cNvPr>
          <p:cNvSpPr/>
          <p:nvPr/>
        </p:nvSpPr>
        <p:spPr>
          <a:xfrm>
            <a:off x="457200" y="649224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7C"/>
                </a:solidFill>
                <a:effectLst/>
                <a:uLnTx/>
                <a:uFillTx/>
                <a:latin typeface="Calibri" pitchFamily="34" charset="0"/>
                <a:ea typeface="Calibri" pitchFamily="34" charset="-122"/>
                <a:cs typeface="Calibri" pitchFamily="34" charset="-120"/>
              </a:rPr>
              <a:t>WA GMA Public Works Survey  |  Descriptive Statistics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a:extLst>
              <a:ext uri="{FF2B5EF4-FFF2-40B4-BE49-F238E27FC236}">
                <a16:creationId xmlns:a16="http://schemas.microsoft.com/office/drawing/2014/main" id="{0675170E-6B63-AA63-4766-0BB7A5C8B0CF}"/>
              </a:ext>
            </a:extLst>
          </p:cNvPr>
          <p:cNvSpPr/>
          <p:nvPr/>
        </p:nvSpPr>
        <p:spPr>
          <a:xfrm>
            <a:off x="10789920" y="6492240"/>
            <a:ext cx="9144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7C"/>
                </a:solidFill>
                <a:effectLst/>
                <a:uLnTx/>
                <a:uFillTx/>
                <a:latin typeface="Calibri" pitchFamily="34" charset="0"/>
                <a:ea typeface="Calibri" pitchFamily="34" charset="-122"/>
                <a:cs typeface="Calibri" pitchFamily="34" charset="-120"/>
              </a:rPr>
              <a:t>2 / 11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1">
            <a:extLst>
              <a:ext uri="{FF2B5EF4-FFF2-40B4-BE49-F238E27FC236}">
                <a16:creationId xmlns:a16="http://schemas.microsoft.com/office/drawing/2014/main" id="{D06A3634-AFFD-F135-E935-65756ECF6900}"/>
              </a:ext>
            </a:extLst>
          </p:cNvPr>
          <p:cNvSpPr/>
          <p:nvPr/>
        </p:nvSpPr>
        <p:spPr>
          <a:xfrm>
            <a:off x="731520" y="228600"/>
            <a:ext cx="105156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a:solidFill>
                  <a:srgbClr val="0F2942"/>
                </a:solidFill>
                <a:latin typeface="Georgia" pitchFamily="34" charset="0"/>
              </a:rPr>
              <a:t>Mann-Whitney U-tests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5C64D5AF-70BC-66FD-C175-84CFB10B7BD8}"/>
              </a:ext>
            </a:extLst>
          </p:cNvPr>
          <p:cNvPicPr>
            <a:picLocks noChangeAspect="1"/>
          </p:cNvPicPr>
          <p:nvPr/>
        </p:nvPicPr>
        <p:blipFill>
          <a:blip r:embed="rId3"/>
          <a:stretch>
            <a:fillRect/>
          </a:stretch>
        </p:blipFill>
        <p:spPr>
          <a:xfrm>
            <a:off x="1309030" y="890248"/>
            <a:ext cx="9573939" cy="5480858"/>
          </a:xfrm>
          <a:prstGeom prst="rect">
            <a:avLst/>
          </a:prstGeom>
        </p:spPr>
      </p:pic>
    </p:spTree>
    <p:extLst>
      <p:ext uri="{BB962C8B-B14F-4D97-AF65-F5344CB8AC3E}">
        <p14:creationId xmlns:p14="http://schemas.microsoft.com/office/powerpoint/2010/main" val="139356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6F6E0-623D-3B5E-0A26-A5328A71CBD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5B30650-DAA7-F3FB-033B-99A21CEB282A}"/>
              </a:ext>
            </a:extLst>
          </p:cNvPr>
          <p:cNvSpPr/>
          <p:nvPr/>
        </p:nvSpPr>
        <p:spPr>
          <a:xfrm>
            <a:off x="457200" y="502920"/>
            <a:ext cx="109728" cy="457200"/>
          </a:xfrm>
          <a:prstGeom prst="rect">
            <a:avLst/>
          </a:prstGeom>
          <a:solidFill>
            <a:srgbClr val="E07A3C"/>
          </a:solidFill>
          <a:ln w="12700">
            <a:solidFill>
              <a:srgbClr val="E07A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0D205944-1B1D-13D0-3094-7AE587BB15AB}"/>
              </a:ext>
            </a:extLst>
          </p:cNvPr>
          <p:cNvSpPr/>
          <p:nvPr/>
        </p:nvSpPr>
        <p:spPr>
          <a:xfrm>
            <a:off x="457200" y="649224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7C"/>
                </a:solidFill>
                <a:effectLst/>
                <a:uLnTx/>
                <a:uFillTx/>
                <a:latin typeface="Calibri" pitchFamily="34" charset="0"/>
                <a:ea typeface="Calibri" pitchFamily="34" charset="-122"/>
                <a:cs typeface="Calibri" pitchFamily="34" charset="-120"/>
              </a:rPr>
              <a:t>WA GMA Public Works Survey  |  Descriptive Statistics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a:extLst>
              <a:ext uri="{FF2B5EF4-FFF2-40B4-BE49-F238E27FC236}">
                <a16:creationId xmlns:a16="http://schemas.microsoft.com/office/drawing/2014/main" id="{C5CEE6D9-EB69-49EF-1EFD-6DA8F1010354}"/>
              </a:ext>
            </a:extLst>
          </p:cNvPr>
          <p:cNvSpPr/>
          <p:nvPr/>
        </p:nvSpPr>
        <p:spPr>
          <a:xfrm>
            <a:off x="10789920" y="6492240"/>
            <a:ext cx="9144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7C"/>
                </a:solidFill>
                <a:effectLst/>
                <a:uLnTx/>
                <a:uFillTx/>
                <a:latin typeface="Calibri" pitchFamily="34" charset="0"/>
                <a:ea typeface="Calibri" pitchFamily="34" charset="-122"/>
                <a:cs typeface="Calibri" pitchFamily="34" charset="-120"/>
              </a:rPr>
              <a:t>2 / 11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1">
            <a:extLst>
              <a:ext uri="{FF2B5EF4-FFF2-40B4-BE49-F238E27FC236}">
                <a16:creationId xmlns:a16="http://schemas.microsoft.com/office/drawing/2014/main" id="{1FBF4DFD-CCCF-9FE2-FC4A-52C8B40F84A1}"/>
              </a:ext>
            </a:extLst>
          </p:cNvPr>
          <p:cNvSpPr/>
          <p:nvPr/>
        </p:nvSpPr>
        <p:spPr>
          <a:xfrm>
            <a:off x="713232" y="411480"/>
            <a:ext cx="105156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F2942"/>
                </a:solidFill>
                <a:effectLst/>
                <a:uLnTx/>
                <a:uFillTx/>
                <a:latin typeface="Georgia" pitchFamily="34" charset="0"/>
                <a:ea typeface="Georgia" pitchFamily="34" charset="-122"/>
                <a:cs typeface="Georgia" pitchFamily="34" charset="-120"/>
              </a:rPr>
              <a:t>U tests: Capital &amp; Bonded Debt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1B7F5501-387D-4551-C664-24DAB3D37E6E}"/>
              </a:ext>
            </a:extLst>
          </p:cNvPr>
          <p:cNvPicPr>
            <a:picLocks noChangeAspect="1"/>
          </p:cNvPicPr>
          <p:nvPr/>
        </p:nvPicPr>
        <p:blipFill>
          <a:blip r:embed="rId3"/>
          <a:stretch>
            <a:fillRect/>
          </a:stretch>
        </p:blipFill>
        <p:spPr>
          <a:xfrm>
            <a:off x="0" y="1355741"/>
            <a:ext cx="12192000" cy="4740878"/>
          </a:xfrm>
          <a:prstGeom prst="rect">
            <a:avLst/>
          </a:prstGeom>
        </p:spPr>
      </p:pic>
    </p:spTree>
    <p:extLst>
      <p:ext uri="{BB962C8B-B14F-4D97-AF65-F5344CB8AC3E}">
        <p14:creationId xmlns:p14="http://schemas.microsoft.com/office/powerpoint/2010/main" val="4222577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88BF8-B452-DA8A-EB09-716282BFAFE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2017268-3726-E8D8-3FB6-3BC6BC0796AB}"/>
              </a:ext>
            </a:extLst>
          </p:cNvPr>
          <p:cNvSpPr/>
          <p:nvPr/>
        </p:nvSpPr>
        <p:spPr>
          <a:xfrm>
            <a:off x="457200" y="502920"/>
            <a:ext cx="109728" cy="457200"/>
          </a:xfrm>
          <a:prstGeom prst="rect">
            <a:avLst/>
          </a:prstGeom>
          <a:solidFill>
            <a:srgbClr val="E07A3C"/>
          </a:solidFill>
          <a:ln w="12700">
            <a:solidFill>
              <a:srgbClr val="E07A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722C4093-F835-C27F-28D5-C71480BE994C}"/>
              </a:ext>
            </a:extLst>
          </p:cNvPr>
          <p:cNvSpPr/>
          <p:nvPr/>
        </p:nvSpPr>
        <p:spPr>
          <a:xfrm>
            <a:off x="457200" y="1491399"/>
            <a:ext cx="5114042" cy="4244953"/>
          </a:xfrm>
          <a:prstGeom prst="rect">
            <a:avLst/>
          </a:prstGeom>
          <a:noFill/>
          <a:ln/>
        </p:spPr>
        <p:txBody>
          <a:bodyPr wrap="square" rtlCol="0" anchor="t"/>
          <a:lstStyle/>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Skiing may be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correlated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with snowfall, but skiing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does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not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cause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more snow to fall!</a:t>
            </a:r>
          </a:p>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lang="en-US" sz="2800" dirty="0">
                <a:solidFill>
                  <a:prstClr val="black"/>
                </a:solidFill>
                <a:latin typeface="Calibri" panose="020F0502020204030204"/>
              </a:rPr>
              <a:t>SDC use is </a:t>
            </a:r>
            <a:r>
              <a:rPr lang="en-US" sz="2800" b="1" dirty="0">
                <a:solidFill>
                  <a:prstClr val="black"/>
                </a:solidFill>
                <a:latin typeface="Calibri" panose="020F0502020204030204"/>
              </a:rPr>
              <a:t>correlated</a:t>
            </a:r>
            <a:r>
              <a:rPr lang="en-US" sz="2800" dirty="0">
                <a:solidFill>
                  <a:prstClr val="black"/>
                </a:solidFill>
                <a:latin typeface="Calibri" panose="020F0502020204030204"/>
              </a:rPr>
              <a:t> with high debt towns, it </a:t>
            </a:r>
            <a:r>
              <a:rPr lang="en-US" sz="2800" b="1" dirty="0">
                <a:solidFill>
                  <a:prstClr val="black"/>
                </a:solidFill>
                <a:latin typeface="Calibri" panose="020F0502020204030204"/>
              </a:rPr>
              <a:t>is</a:t>
            </a:r>
            <a:r>
              <a:rPr lang="en-US" sz="2800" dirty="0">
                <a:solidFill>
                  <a:prstClr val="black"/>
                </a:solidFill>
                <a:latin typeface="Calibri" panose="020F0502020204030204"/>
              </a:rPr>
              <a:t> </a:t>
            </a:r>
            <a:r>
              <a:rPr lang="en-US" sz="2800" b="1" dirty="0">
                <a:solidFill>
                  <a:prstClr val="black"/>
                </a:solidFill>
                <a:latin typeface="Calibri" panose="020F0502020204030204"/>
              </a:rPr>
              <a:t>not</a:t>
            </a:r>
            <a:r>
              <a:rPr lang="en-US" sz="2800" dirty="0">
                <a:solidFill>
                  <a:prstClr val="black"/>
                </a:solidFill>
                <a:latin typeface="Calibri" panose="020F0502020204030204"/>
              </a:rPr>
              <a:t> indicative of </a:t>
            </a:r>
            <a:r>
              <a:rPr lang="en-US" sz="2800" b="1" dirty="0">
                <a:solidFill>
                  <a:prstClr val="black"/>
                </a:solidFill>
                <a:latin typeface="Calibri" panose="020F0502020204030204"/>
              </a:rPr>
              <a:t>causing</a:t>
            </a:r>
            <a:r>
              <a:rPr lang="en-US" sz="2800" dirty="0">
                <a:solidFill>
                  <a:prstClr val="black"/>
                </a:solidFill>
                <a:latin typeface="Calibri" panose="020F0502020204030204"/>
              </a:rPr>
              <a:t> debt</a:t>
            </a:r>
          </a:p>
          <a:p>
            <a:pPr marL="342900" indent="-342900">
              <a:spcAft>
                <a:spcPts val="1200"/>
              </a:spcAft>
              <a:buSzPct val="100000"/>
              <a:buFontTx/>
              <a:buChar char="■"/>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Instead, it is fairer to say </a:t>
            </a:r>
            <a:r>
              <a:rPr lang="en-US" sz="2800" b="1" dirty="0">
                <a:solidFill>
                  <a:prstClr val="black"/>
                </a:solidFill>
                <a:latin typeface="Calibri" panose="020F0502020204030204"/>
              </a:rPr>
              <a:t>that towns of high debt tend to find themselves utilizing an SDC to solve that debt</a:t>
            </a:r>
          </a:p>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Pct val="100000"/>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3E1D074B-8B4A-F662-C3C8-A665A9A4A437}"/>
              </a:ext>
            </a:extLst>
          </p:cNvPr>
          <p:cNvSpPr/>
          <p:nvPr/>
        </p:nvSpPr>
        <p:spPr>
          <a:xfrm>
            <a:off x="457200" y="649224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7C"/>
                </a:solidFill>
                <a:effectLst/>
                <a:uLnTx/>
                <a:uFillTx/>
                <a:latin typeface="Calibri" pitchFamily="34" charset="0"/>
                <a:ea typeface="Calibri" pitchFamily="34" charset="-122"/>
                <a:cs typeface="Calibri" pitchFamily="34" charset="-120"/>
              </a:rPr>
              <a:t>WA GMA Public Works Survey  |  Descriptive Statistics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a:extLst>
              <a:ext uri="{FF2B5EF4-FFF2-40B4-BE49-F238E27FC236}">
                <a16:creationId xmlns:a16="http://schemas.microsoft.com/office/drawing/2014/main" id="{7F03C797-D706-F526-8A8B-87AB6A115728}"/>
              </a:ext>
            </a:extLst>
          </p:cNvPr>
          <p:cNvSpPr/>
          <p:nvPr/>
        </p:nvSpPr>
        <p:spPr>
          <a:xfrm>
            <a:off x="10789920" y="6492240"/>
            <a:ext cx="9144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7C"/>
                </a:solidFill>
                <a:effectLst/>
                <a:uLnTx/>
                <a:uFillTx/>
                <a:latin typeface="Calibri" pitchFamily="34" charset="0"/>
                <a:ea typeface="Calibri" pitchFamily="34" charset="-122"/>
                <a:cs typeface="Calibri" pitchFamily="34" charset="-120"/>
              </a:rPr>
              <a:t>2 / 11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1">
            <a:extLst>
              <a:ext uri="{FF2B5EF4-FFF2-40B4-BE49-F238E27FC236}">
                <a16:creationId xmlns:a16="http://schemas.microsoft.com/office/drawing/2014/main" id="{7CAADC79-6BCD-991B-9F68-04702BB6152C}"/>
              </a:ext>
            </a:extLst>
          </p:cNvPr>
          <p:cNvSpPr/>
          <p:nvPr/>
        </p:nvSpPr>
        <p:spPr>
          <a:xfrm>
            <a:off x="713232" y="411480"/>
            <a:ext cx="105156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F2942"/>
                </a:solidFill>
                <a:effectLst/>
                <a:uLnTx/>
                <a:uFillTx/>
                <a:latin typeface="Georgia" pitchFamily="34" charset="0"/>
                <a:ea typeface="Georgia" pitchFamily="34" charset="-122"/>
                <a:cs typeface="Georgia" pitchFamily="34" charset="-120"/>
              </a:rPr>
              <a:t>Correlation doesn’t prove Causation</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F085001E-D71F-8DCC-C47E-66FCB561CC93}"/>
              </a:ext>
            </a:extLst>
          </p:cNvPr>
          <p:cNvPicPr>
            <a:picLocks noChangeAspect="1"/>
          </p:cNvPicPr>
          <p:nvPr/>
        </p:nvPicPr>
        <p:blipFill>
          <a:blip r:embed="rId3"/>
          <a:stretch>
            <a:fillRect/>
          </a:stretch>
        </p:blipFill>
        <p:spPr>
          <a:xfrm>
            <a:off x="5971032" y="1516223"/>
            <a:ext cx="6133978" cy="4444738"/>
          </a:xfrm>
          <a:prstGeom prst="rect">
            <a:avLst/>
          </a:prstGeom>
        </p:spPr>
      </p:pic>
    </p:spTree>
    <p:extLst>
      <p:ext uri="{BB962C8B-B14F-4D97-AF65-F5344CB8AC3E}">
        <p14:creationId xmlns:p14="http://schemas.microsoft.com/office/powerpoint/2010/main" val="3527983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502920"/>
            <a:ext cx="109728" cy="457200"/>
          </a:xfrm>
          <a:prstGeom prst="rect">
            <a:avLst/>
          </a:prstGeom>
          <a:solidFill>
            <a:srgbClr val="E07A3C"/>
          </a:solidFill>
          <a:ln w="12700">
            <a:solidFill>
              <a:srgbClr val="E07A3C"/>
            </a:solidFill>
            <a:prstDash val="solid"/>
          </a:ln>
        </p:spPr>
        <p:txBody>
          <a:bodyPr/>
          <a:lstStyle/>
          <a:p>
            <a:endParaRPr lang="en-US"/>
          </a:p>
        </p:txBody>
      </p:sp>
      <p:sp>
        <p:nvSpPr>
          <p:cNvPr id="3" name="Text 1"/>
          <p:cNvSpPr/>
          <p:nvPr/>
        </p:nvSpPr>
        <p:spPr>
          <a:xfrm>
            <a:off x="713232" y="411480"/>
            <a:ext cx="10515600" cy="640080"/>
          </a:xfrm>
          <a:prstGeom prst="rect">
            <a:avLst/>
          </a:prstGeom>
          <a:noFill/>
          <a:ln/>
        </p:spPr>
        <p:txBody>
          <a:bodyPr wrap="square" lIns="0" tIns="0" rIns="0" bIns="0" rtlCol="0" anchor="ctr"/>
          <a:lstStyle/>
          <a:p>
            <a:pPr marL="0" indent="0">
              <a:buNone/>
            </a:pPr>
            <a:r>
              <a:rPr lang="en-US" sz="2800" b="1" dirty="0">
                <a:solidFill>
                  <a:srgbClr val="0F2942"/>
                </a:solidFill>
                <a:latin typeface="Georgia" pitchFamily="34" charset="0"/>
                <a:ea typeface="Georgia" pitchFamily="34" charset="-122"/>
                <a:cs typeface="Georgia" pitchFamily="34" charset="-120"/>
              </a:rPr>
              <a:t>GIS tool use</a:t>
            </a:r>
            <a:endParaRPr lang="en-US" sz="2800" dirty="0"/>
          </a:p>
        </p:txBody>
      </p:sp>
      <p:sp>
        <p:nvSpPr>
          <p:cNvPr id="4" name="Text 2"/>
          <p:cNvSpPr/>
          <p:nvPr/>
        </p:nvSpPr>
        <p:spPr>
          <a:xfrm>
            <a:off x="713232" y="1005840"/>
            <a:ext cx="10515600" cy="365760"/>
          </a:xfrm>
          <a:prstGeom prst="rect">
            <a:avLst/>
          </a:prstGeom>
          <a:noFill/>
          <a:ln/>
        </p:spPr>
        <p:txBody>
          <a:bodyPr wrap="square" lIns="0" tIns="0" rIns="0" bIns="0" rtlCol="0" anchor="ctr"/>
          <a:lstStyle/>
          <a:p>
            <a:pPr marL="0" indent="0">
              <a:buNone/>
            </a:pPr>
            <a:r>
              <a:rPr lang="en-US" sz="1400" i="1" dirty="0">
                <a:solidFill>
                  <a:srgbClr val="5A6B7C"/>
                </a:solidFill>
                <a:latin typeface="Calibri" pitchFamily="34" charset="0"/>
                <a:ea typeface="Calibri" pitchFamily="34" charset="-122"/>
                <a:cs typeface="Calibri" pitchFamily="34" charset="-120"/>
              </a:rPr>
              <a:t>Most use overall cost analysis; GIS is widespread but narrow</a:t>
            </a:r>
            <a:endParaRPr lang="en-US" sz="1400" dirty="0"/>
          </a:p>
        </p:txBody>
      </p:sp>
      <p:sp>
        <p:nvSpPr>
          <p:cNvPr id="5" name="Text 3"/>
          <p:cNvSpPr/>
          <p:nvPr/>
        </p:nvSpPr>
        <p:spPr>
          <a:xfrm>
            <a:off x="713232" y="1554480"/>
            <a:ext cx="4937760" cy="4389120"/>
          </a:xfrm>
          <a:prstGeom prst="rect">
            <a:avLst/>
          </a:prstGeom>
          <a:noFill/>
          <a:ln/>
        </p:spPr>
        <p:txBody>
          <a:bodyPr wrap="square" rtlCol="0" anchor="t"/>
          <a:lstStyle/>
          <a:p>
            <a:pPr marL="342900" indent="-342900">
              <a:spcAft>
                <a:spcPts val="1200"/>
              </a:spcAft>
              <a:buSzPct val="100000"/>
              <a:buChar char="■"/>
            </a:pPr>
            <a:r>
              <a:rPr lang="en-US" sz="2400" dirty="0">
                <a:solidFill>
                  <a:srgbClr val="1A2B3C"/>
                </a:solidFill>
                <a:latin typeface="Calibri" pitchFamily="34" charset="0"/>
                <a:ea typeface="Calibri" pitchFamily="34" charset="-122"/>
                <a:cs typeface="Calibri" pitchFamily="34" charset="-120"/>
              </a:rPr>
              <a:t>Q8: 14 of 17 respondents (82%) use a GIS tool</a:t>
            </a:r>
            <a:endParaRPr lang="en-US" sz="2400" dirty="0"/>
          </a:p>
          <a:p>
            <a:pPr marL="342900" indent="-342900">
              <a:spcAft>
                <a:spcPts val="1200"/>
              </a:spcAft>
              <a:buSzPct val="100000"/>
              <a:buChar char="■"/>
            </a:pPr>
            <a:r>
              <a:rPr lang="en-US" sz="2400" dirty="0">
                <a:solidFill>
                  <a:srgbClr val="1A2B3C"/>
                </a:solidFill>
                <a:latin typeface="Calibri" pitchFamily="34" charset="0"/>
                <a:ea typeface="Calibri" pitchFamily="34" charset="-122"/>
                <a:cs typeface="Calibri" pitchFamily="34" charset="-120"/>
              </a:rPr>
              <a:t>GIS is used almost universally for meter location, but less than 50% of the time for asset valuation</a:t>
            </a:r>
          </a:p>
          <a:p>
            <a:pPr marL="342900" indent="-342900">
              <a:spcAft>
                <a:spcPts val="1200"/>
              </a:spcAft>
              <a:buSzPct val="100000"/>
              <a:buChar char="■"/>
            </a:pPr>
            <a:r>
              <a:rPr lang="en-US" sz="2400" dirty="0">
                <a:solidFill>
                  <a:srgbClr val="1A2B3C"/>
                </a:solidFill>
                <a:latin typeface="Calibri" pitchFamily="34" charset="0"/>
                <a:ea typeface="Calibri" pitchFamily="34" charset="-122"/>
                <a:cs typeface="Calibri" pitchFamily="34" charset="-120"/>
              </a:rPr>
              <a:t>3 towns use a separate tool for their asset valuation</a:t>
            </a:r>
            <a:endParaRPr lang="en-US" sz="2400" dirty="0"/>
          </a:p>
        </p:txBody>
      </p:sp>
      <p:sp>
        <p:nvSpPr>
          <p:cNvPr id="8" name="Text 5"/>
          <p:cNvSpPr/>
          <p:nvPr/>
        </p:nvSpPr>
        <p:spPr>
          <a:xfrm>
            <a:off x="6217920" y="1485900"/>
            <a:ext cx="5486400" cy="320040"/>
          </a:xfrm>
          <a:prstGeom prst="rect">
            <a:avLst/>
          </a:prstGeom>
          <a:noFill/>
          <a:ln/>
        </p:spPr>
        <p:txBody>
          <a:bodyPr wrap="square" lIns="0" tIns="0" rIns="0" bIns="0" rtlCol="0" anchor="ctr"/>
          <a:lstStyle/>
          <a:p>
            <a:pPr marL="0" indent="0">
              <a:buNone/>
            </a:pPr>
            <a:r>
              <a:rPr lang="en-US" sz="1200" b="1" dirty="0">
                <a:solidFill>
                  <a:srgbClr val="0F2942"/>
                </a:solidFill>
                <a:latin typeface="Calibri" pitchFamily="34" charset="0"/>
                <a:ea typeface="Calibri" pitchFamily="34" charset="-122"/>
                <a:cs typeface="Calibri" pitchFamily="34" charset="-120"/>
              </a:rPr>
              <a:t>Q8: GIS tool use cases</a:t>
            </a:r>
            <a:endParaRPr lang="en-US" sz="1200" dirty="0"/>
          </a:p>
        </p:txBody>
      </p:sp>
      <p:graphicFrame>
        <p:nvGraphicFramePr>
          <p:cNvPr id="9" name="Chart 1"/>
          <p:cNvGraphicFramePr/>
          <p:nvPr>
            <p:extLst>
              <p:ext uri="{D42A27DB-BD31-4B8C-83A1-F6EECF244321}">
                <p14:modId xmlns:p14="http://schemas.microsoft.com/office/powerpoint/2010/main" val="736666576"/>
              </p:ext>
            </p:extLst>
          </p:nvPr>
        </p:nvGraphicFramePr>
        <p:xfrm>
          <a:off x="6096000" y="1965959"/>
          <a:ext cx="5486400" cy="3086101"/>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6"/>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5A6B7C"/>
                </a:solidFill>
                <a:latin typeface="Calibri" pitchFamily="34" charset="0"/>
                <a:ea typeface="Calibri" pitchFamily="34" charset="-122"/>
                <a:cs typeface="Calibri" pitchFamily="34" charset="-120"/>
              </a:rPr>
              <a:t>WA GMA Public Works Survey  |  Descriptive Statistics</a:t>
            </a:r>
            <a:endParaRPr lang="en-US" sz="900" dirty="0"/>
          </a:p>
        </p:txBody>
      </p:sp>
      <p:sp>
        <p:nvSpPr>
          <p:cNvPr id="11" name="Text 7"/>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5A6B7C"/>
                </a:solidFill>
                <a:latin typeface="Calibri" pitchFamily="34" charset="0"/>
                <a:ea typeface="Calibri" pitchFamily="34" charset="-122"/>
                <a:cs typeface="Calibri" pitchFamily="34" charset="-120"/>
              </a:rPr>
              <a:t>9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4EA23-ADDE-7FEB-19C2-55C02F70807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1CCE39D-FC3E-3E53-867E-1C75E3B5DBA7}"/>
              </a:ext>
            </a:extLst>
          </p:cNvPr>
          <p:cNvSpPr/>
          <p:nvPr/>
        </p:nvSpPr>
        <p:spPr>
          <a:xfrm>
            <a:off x="457200" y="502920"/>
            <a:ext cx="109728" cy="457200"/>
          </a:xfrm>
          <a:prstGeom prst="rect">
            <a:avLst/>
          </a:prstGeom>
          <a:solidFill>
            <a:srgbClr val="E07A3C"/>
          </a:solidFill>
          <a:ln w="12700">
            <a:solidFill>
              <a:srgbClr val="E07A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BEF86A9D-0BB4-8493-468B-C97EA2501849}"/>
              </a:ext>
            </a:extLst>
          </p:cNvPr>
          <p:cNvSpPr/>
          <p:nvPr/>
        </p:nvSpPr>
        <p:spPr>
          <a:xfrm>
            <a:off x="472848" y="1306524"/>
            <a:ext cx="10996368" cy="2605600"/>
          </a:xfrm>
          <a:prstGeom prst="rect">
            <a:avLst/>
          </a:prstGeom>
          <a:noFill/>
          <a:ln/>
        </p:spPr>
        <p:txBody>
          <a:bodyPr wrap="square" rtlCol="0" anchor="t"/>
          <a:lstStyle/>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lang="en-US" sz="2400" dirty="0">
                <a:solidFill>
                  <a:prstClr val="black"/>
                </a:solidFill>
                <a:latin typeface="Calibri" panose="020F0502020204030204"/>
              </a:rPr>
              <a:t>17 participants is a relatively low number for stats modeling -&gt; High P values -&gt; possibility of randomness in results</a:t>
            </a:r>
          </a:p>
          <a:p>
            <a:pPr marL="342900" indent="-342900">
              <a:spcAft>
                <a:spcPts val="1200"/>
              </a:spcAft>
              <a:buSzPct val="100000"/>
              <a:buFontTx/>
              <a:buChar char="■"/>
              <a:defRPr/>
            </a:pPr>
            <a:r>
              <a:rPr lang="en-US" sz="2400" dirty="0">
                <a:solidFill>
                  <a:prstClr val="black"/>
                </a:solidFill>
                <a:latin typeface="Calibri" panose="020F0502020204030204"/>
              </a:rPr>
              <a:t>Missing towns have similar population &amp; debt levels -&gt; </a:t>
            </a:r>
            <a:r>
              <a:rPr lang="en-US" sz="2400" dirty="0">
                <a:solidFill>
                  <a:prstClr val="black"/>
                </a:solidFill>
              </a:rPr>
              <a:t>Having 40% of sample population is substantial -&gt; </a:t>
            </a:r>
            <a:r>
              <a:rPr lang="en-US" sz="2400" dirty="0">
                <a:solidFill>
                  <a:prstClr val="black"/>
                </a:solidFill>
                <a:latin typeface="Calibri" panose="020F0502020204030204"/>
              </a:rPr>
              <a:t>Minimal “no response” bias</a:t>
            </a:r>
          </a:p>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endParaRPr lang="en-US" sz="2400" dirty="0">
              <a:solidFill>
                <a:prstClr val="black"/>
              </a:solidFill>
              <a:latin typeface="Calibri" panose="020F0502020204030204"/>
            </a:endParaRPr>
          </a:p>
          <a:p>
            <a:pPr marL="0" marR="0" lvl="0" indent="0" algn="l" defTabSz="914400" rtl="0" eaLnBrk="1" fontAlgn="auto" latinLnBrk="0" hangingPunct="1">
              <a:lnSpc>
                <a:spcPct val="100000"/>
              </a:lnSpc>
              <a:spcBef>
                <a:spcPts val="0"/>
              </a:spcBef>
              <a:spcAft>
                <a:spcPts val="1200"/>
              </a:spcAft>
              <a:buClrTx/>
              <a:buSzPct val="100000"/>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2C2AE721-2777-3AA7-A468-FEF55BB15AD3}"/>
              </a:ext>
            </a:extLst>
          </p:cNvPr>
          <p:cNvSpPr/>
          <p:nvPr/>
        </p:nvSpPr>
        <p:spPr>
          <a:xfrm>
            <a:off x="457200" y="649224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7C"/>
                </a:solidFill>
                <a:effectLst/>
                <a:uLnTx/>
                <a:uFillTx/>
                <a:latin typeface="Calibri" pitchFamily="34" charset="0"/>
                <a:ea typeface="Calibri" pitchFamily="34" charset="-122"/>
                <a:cs typeface="Calibri" pitchFamily="34" charset="-120"/>
              </a:rPr>
              <a:t>WA GMA Public Works Survey  |  Descriptive Statistics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a:extLst>
              <a:ext uri="{FF2B5EF4-FFF2-40B4-BE49-F238E27FC236}">
                <a16:creationId xmlns:a16="http://schemas.microsoft.com/office/drawing/2014/main" id="{A826D65F-57CC-7151-2B22-D1A962C2911E}"/>
              </a:ext>
            </a:extLst>
          </p:cNvPr>
          <p:cNvSpPr/>
          <p:nvPr/>
        </p:nvSpPr>
        <p:spPr>
          <a:xfrm>
            <a:off x="10789920" y="6492240"/>
            <a:ext cx="9144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7C"/>
                </a:solidFill>
                <a:effectLst/>
                <a:uLnTx/>
                <a:uFillTx/>
                <a:latin typeface="Calibri" pitchFamily="34" charset="0"/>
                <a:ea typeface="Calibri" pitchFamily="34" charset="-122"/>
                <a:cs typeface="Calibri" pitchFamily="34" charset="-120"/>
              </a:rPr>
              <a:t>2 / 11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1">
            <a:extLst>
              <a:ext uri="{FF2B5EF4-FFF2-40B4-BE49-F238E27FC236}">
                <a16:creationId xmlns:a16="http://schemas.microsoft.com/office/drawing/2014/main" id="{68A9D734-B55B-8F3B-DCE8-6F99B99EB5B4}"/>
              </a:ext>
            </a:extLst>
          </p:cNvPr>
          <p:cNvSpPr/>
          <p:nvPr/>
        </p:nvSpPr>
        <p:spPr>
          <a:xfrm>
            <a:off x="713232" y="411480"/>
            <a:ext cx="105156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a:solidFill>
                  <a:srgbClr val="0F2942"/>
                </a:solidFill>
                <a:latin typeface="Georgia" pitchFamily="34" charset="0"/>
              </a:rPr>
              <a:t>Experimental limitations &amp; Circumstances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D902D270-E77D-7B5C-90FD-AC98CBDB7AAD}"/>
              </a:ext>
            </a:extLst>
          </p:cNvPr>
          <p:cNvPicPr>
            <a:picLocks noChangeAspect="1"/>
          </p:cNvPicPr>
          <p:nvPr/>
        </p:nvPicPr>
        <p:blipFill>
          <a:blip r:embed="rId3"/>
          <a:stretch>
            <a:fillRect/>
          </a:stretch>
        </p:blipFill>
        <p:spPr>
          <a:xfrm>
            <a:off x="48864" y="3167406"/>
            <a:ext cx="12094272" cy="3324835"/>
          </a:xfrm>
          <a:prstGeom prst="rect">
            <a:avLst/>
          </a:prstGeom>
        </p:spPr>
      </p:pic>
    </p:spTree>
    <p:extLst>
      <p:ext uri="{BB962C8B-B14F-4D97-AF65-F5344CB8AC3E}">
        <p14:creationId xmlns:p14="http://schemas.microsoft.com/office/powerpoint/2010/main" val="1075221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2942"/>
        </a:solidFill>
        <a:effectLst/>
      </p:bgPr>
    </p:bg>
    <p:spTree>
      <p:nvGrpSpPr>
        <p:cNvPr id="1" name=""/>
        <p:cNvGrpSpPr/>
        <p:nvPr/>
      </p:nvGrpSpPr>
      <p:grpSpPr>
        <a:xfrm>
          <a:off x="0" y="0"/>
          <a:ext cx="0" cy="0"/>
          <a:chOff x="0" y="0"/>
          <a:chExt cx="0" cy="0"/>
        </a:xfrm>
      </p:grpSpPr>
      <p:sp>
        <p:nvSpPr>
          <p:cNvPr id="2" name="Text 0"/>
          <p:cNvSpPr/>
          <p:nvPr/>
        </p:nvSpPr>
        <p:spPr>
          <a:xfrm>
            <a:off x="731520" y="731520"/>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Thank You!</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31520" y="1554480"/>
            <a:ext cx="109728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7FB8B5"/>
                </a:solidFill>
                <a:effectLst/>
                <a:uLnTx/>
                <a:uFillTx/>
                <a:latin typeface="Georgia" pitchFamily="34" charset="0"/>
                <a:ea typeface="Georgia" pitchFamily="34" charset="-122"/>
                <a:cs typeface="Georgia" pitchFamily="34" charset="-120"/>
              </a:rPr>
              <a:t>Some External Links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31520" y="2468880"/>
            <a:ext cx="10698480" cy="3657600"/>
          </a:xfrm>
          <a:prstGeom prst="rect">
            <a:avLst/>
          </a:prstGeom>
          <a:noFill/>
          <a:ln/>
        </p:spPr>
        <p:txBody>
          <a:bodyPr wrap="square" rtlCol="0" anchor="t"/>
          <a:lstStyle/>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 more comprehensive time-series analysis would be necessary to prove true correlation between funding method and effective debt alleviation</a:t>
            </a:r>
            <a:endParaRPr lang="en-US" sz="1400" dirty="0">
              <a:solidFill>
                <a:srgbClr val="FFFFFF"/>
              </a:solidFill>
              <a:latin typeface="Calibri" pitchFamily="34" charset="0"/>
              <a:ea typeface="Calibri" pitchFamily="34" charset="-122"/>
              <a:cs typeface="Calibri" pitchFamily="34" charset="-120"/>
            </a:endParaRPr>
          </a:p>
          <a:p>
            <a:pPr marL="342900" lvl="0" indent="-342900">
              <a:spcAft>
                <a:spcPts val="1000"/>
              </a:spcAft>
              <a:buSzPct val="100000"/>
              <a:buFontTx/>
              <a:buChar char="■"/>
              <a:defRPr/>
            </a:pPr>
            <a:r>
              <a:rPr kumimoji="0" lang="en-US" sz="1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This is the GitHub Repo for </a:t>
            </a:r>
            <a:r>
              <a:rPr lang="en-US" sz="1400" dirty="0">
                <a:solidFill>
                  <a:srgbClr val="FFFFFF"/>
                </a:solidFill>
                <a:latin typeface="Calibri" pitchFamily="34" charset="0"/>
                <a:ea typeface="Calibri" pitchFamily="34" charset="-122"/>
                <a:cs typeface="Calibri" pitchFamily="34" charset="-120"/>
              </a:rPr>
              <a:t>this project: </a:t>
            </a:r>
            <a:r>
              <a:rPr lang="en-US" sz="1400" dirty="0">
                <a:solidFill>
                  <a:srgbClr val="FFFFFF"/>
                </a:solidFill>
                <a:latin typeface="Calibri" pitchFamily="34" charset="0"/>
                <a:ea typeface="Calibri" pitchFamily="34" charset="-122"/>
                <a:cs typeface="Calibri" pitchFamily="34" charset="-120"/>
                <a:hlinkClick r:id="rId3"/>
              </a:rPr>
              <a:t>https://github.com/rowanjmedlock/WS_WaterProj_repo</a:t>
            </a:r>
            <a:r>
              <a:rPr lang="en-US" sz="1400" dirty="0">
                <a:solidFill>
                  <a:srgbClr val="FFFFFF"/>
                </a:solidFill>
                <a:latin typeface="Calibri" pitchFamily="34" charset="0"/>
                <a:ea typeface="Calibri" pitchFamily="34" charset="-122"/>
                <a:cs typeface="Calibri" pitchFamily="34" charset="-120"/>
              </a:rPr>
              <a:t> </a:t>
            </a:r>
          </a:p>
          <a:p>
            <a:pPr marL="342900" lvl="0" indent="-342900">
              <a:spcAft>
                <a:spcPts val="1000"/>
              </a:spcAft>
              <a:buSzPct val="100000"/>
              <a:buFontTx/>
              <a:buChar char="■"/>
              <a:defRPr/>
            </a:pPr>
            <a:r>
              <a:rPr kumimoji="0" lang="en-US" sz="1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It contains the formal research report as a Jupyter Notebook</a:t>
            </a:r>
          </a:p>
          <a:p>
            <a:pPr marL="342900" lvl="0" indent="-342900">
              <a:spcAft>
                <a:spcPts val="1000"/>
              </a:spcAft>
              <a:buSzPct val="100000"/>
              <a:buFontTx/>
              <a:buChar char="■"/>
              <a:defRPr/>
            </a:pPr>
            <a:r>
              <a:rPr kumimoji="0" lang="en-US" sz="1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Survey questions, Raw Data</a:t>
            </a:r>
            <a:r>
              <a:rPr lang="en-US" sz="1400" dirty="0">
                <a:solidFill>
                  <a:srgbClr val="FFFFFF"/>
                </a:solidFill>
                <a:latin typeface="Calibri" pitchFamily="34" charset="0"/>
                <a:ea typeface="Calibri" pitchFamily="34" charset="-122"/>
                <a:cs typeface="Calibri" pitchFamily="34" charset="-120"/>
              </a:rPr>
              <a:t> collection, A full table for every “Yes”/”No” response, and all 4 of the U-test graphs are included separately as well as within this notebook</a:t>
            </a:r>
            <a:endParaRPr kumimoji="0" lang="en-US" sz="1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endParaRPr>
          </a:p>
        </p:txBody>
      </p:sp>
      <p:sp>
        <p:nvSpPr>
          <p:cNvPr id="5" name="Text 3"/>
          <p:cNvSpPr/>
          <p:nvPr/>
        </p:nvSpPr>
        <p:spPr>
          <a:xfrm>
            <a:off x="731520" y="64008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FB8B5"/>
                </a:solidFill>
                <a:effectLst/>
                <a:uLnTx/>
                <a:uFillTx/>
                <a:latin typeface="Calibri" pitchFamily="34" charset="0"/>
                <a:ea typeface="Calibri" pitchFamily="34" charset="-122"/>
                <a:cs typeface="Calibri" pitchFamily="34" charset="-120"/>
              </a:rPr>
              <a:t>Source: WA_GMA_PW_Surveying_Data_Collection.xlsx, 'Full Survey Table' sheet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4236</TotalTime>
  <Words>2093</Words>
  <Application>Microsoft Office PowerPoint</Application>
  <PresentationFormat>Widescreen</PresentationFormat>
  <Paragraphs>170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Georgia</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Rowan Medlock</dc:creator>
  <cp:lastModifiedBy>Rowan Medlock</cp:lastModifiedBy>
  <cp:revision>17</cp:revision>
  <dcterms:created xsi:type="dcterms:W3CDTF">2026-08-10T06:01:48Z</dcterms:created>
  <dcterms:modified xsi:type="dcterms:W3CDTF">2026-08-16T20:32:35Z</dcterms:modified>
</cp:coreProperties>
</file>
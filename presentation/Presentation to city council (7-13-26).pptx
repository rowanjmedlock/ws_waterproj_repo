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0" r:id="rId3"/>
    <p:sldId id="268" r:id="rId4"/>
    <p:sldId id="257" r:id="rId5"/>
    <p:sldId id="273" r:id="rId6"/>
    <p:sldId id="258" r:id="rId7"/>
    <p:sldId id="271" r:id="rId8"/>
    <p:sldId id="261" r:id="rId9"/>
    <p:sldId id="262" r:id="rId10"/>
    <p:sldId id="263" r:id="rId11"/>
    <p:sldId id="264" r:id="rId12"/>
    <p:sldId id="27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FD353A-1CB8-41E9-BAB2-45027960760E}" v="43" dt="2026-06-11T03:52:44.6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4043" autoAdjust="0"/>
  </p:normalViewPr>
  <p:slideViewPr>
    <p:cSldViewPr snapToGrid="0" snapToObjects="1">
      <p:cViewPr varScale="1">
        <p:scale>
          <a:sx n="93" d="100"/>
          <a:sy n="93" d="100"/>
        </p:scale>
        <p:origin x="7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wan Medlock" userId="a4106ae20393ce3e" providerId="LiveId" clId="{EC49F2DC-25CE-40DC-B7BC-97B2BF89389E}"/>
    <pc:docChg chg="undo custSel addSld delSld modSld">
      <pc:chgData name="Rowan Medlock" userId="a4106ae20393ce3e" providerId="LiveId" clId="{EC49F2DC-25CE-40DC-B7BC-97B2BF89389E}" dt="2026-06-11T03:53:19.189" v="2103" actId="14100"/>
      <pc:docMkLst>
        <pc:docMk/>
      </pc:docMkLst>
      <pc:sldChg chg="modSp mod">
        <pc:chgData name="Rowan Medlock" userId="a4106ae20393ce3e" providerId="LiveId" clId="{EC49F2DC-25CE-40DC-B7BC-97B2BF89389E}" dt="2026-06-11T00:43:28.845" v="111" actId="20577"/>
        <pc:sldMkLst>
          <pc:docMk/>
          <pc:sldMk cId="0" sldId="256"/>
        </pc:sldMkLst>
        <pc:spChg chg="mod">
          <ac:chgData name="Rowan Medlock" userId="a4106ae20393ce3e" providerId="LiveId" clId="{EC49F2DC-25CE-40DC-B7BC-97B2BF89389E}" dt="2026-06-11T00:43:28.845" v="111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Rowan Medlock" userId="a4106ae20393ce3e" providerId="LiveId" clId="{EC49F2DC-25CE-40DC-B7BC-97B2BF89389E}" dt="2026-06-11T02:03:19.276" v="132" actId="27918"/>
        <pc:sldMkLst>
          <pc:docMk/>
          <pc:sldMk cId="0" sldId="257"/>
        </pc:sldMkLst>
        <pc:spChg chg="mod">
          <ac:chgData name="Rowan Medlock" userId="a4106ae20393ce3e" providerId="LiveId" clId="{EC49F2DC-25CE-40DC-B7BC-97B2BF89389E}" dt="2026-06-11T00:44:50.834" v="121" actId="20577"/>
          <ac:spMkLst>
            <pc:docMk/>
            <pc:sldMk cId="0" sldId="257"/>
            <ac:spMk id="5" creationId="{00000000-0000-0000-0000-000000000000}"/>
          </ac:spMkLst>
        </pc:spChg>
      </pc:sldChg>
      <pc:sldChg chg="addSp delSp modSp mod">
        <pc:chgData name="Rowan Medlock" userId="a4106ae20393ce3e" providerId="LiveId" clId="{EC49F2DC-25CE-40DC-B7BC-97B2BF89389E}" dt="2026-06-11T02:53:19.122" v="185" actId="14100"/>
        <pc:sldMkLst>
          <pc:docMk/>
          <pc:sldMk cId="0" sldId="258"/>
        </pc:sldMkLst>
        <pc:spChg chg="mod">
          <ac:chgData name="Rowan Medlock" userId="a4106ae20393ce3e" providerId="LiveId" clId="{EC49F2DC-25CE-40DC-B7BC-97B2BF89389E}" dt="2026-06-11T02:06:38.271" v="134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Rowan Medlock" userId="a4106ae20393ce3e" providerId="LiveId" clId="{EC49F2DC-25CE-40DC-B7BC-97B2BF89389E}" dt="2026-06-11T02:53:19.122" v="185" actId="14100"/>
          <ac:spMkLst>
            <pc:docMk/>
            <pc:sldMk cId="0" sldId="258"/>
            <ac:spMk id="8" creationId="{00000000-0000-0000-0000-000000000000}"/>
          </ac:spMkLst>
        </pc:spChg>
        <pc:spChg chg="add del mod">
          <ac:chgData name="Rowan Medlock" userId="a4106ae20393ce3e" providerId="LiveId" clId="{EC49F2DC-25CE-40DC-B7BC-97B2BF89389E}" dt="2026-06-11T02:52:35.959" v="177" actId="478"/>
          <ac:spMkLst>
            <pc:docMk/>
            <pc:sldMk cId="0" sldId="258"/>
            <ac:spMk id="12" creationId="{4DB09542-78B3-3A16-80C2-0197F6067277}"/>
          </ac:spMkLst>
        </pc:spChg>
        <pc:spChg chg="add del">
          <ac:chgData name="Rowan Medlock" userId="a4106ae20393ce3e" providerId="LiveId" clId="{EC49F2DC-25CE-40DC-B7BC-97B2BF89389E}" dt="2026-06-11T02:52:41.630" v="179" actId="22"/>
          <ac:spMkLst>
            <pc:docMk/>
            <pc:sldMk cId="0" sldId="258"/>
            <ac:spMk id="14" creationId="{B7345436-857D-1CF5-2CE0-BD6C16F5342E}"/>
          </ac:spMkLst>
        </pc:spChg>
        <pc:graphicFrameChg chg="del mod">
          <ac:chgData name="Rowan Medlock" userId="a4106ae20393ce3e" providerId="LiveId" clId="{EC49F2DC-25CE-40DC-B7BC-97B2BF89389E}" dt="2026-06-11T02:11:29.295" v="160" actId="478"/>
          <ac:graphicFrameMkLst>
            <pc:docMk/>
            <pc:sldMk cId="0" sldId="258"/>
            <ac:graphicFrameMk id="7" creationId="{00000000-0000-0000-0000-000000000000}"/>
          </ac:graphicFrameMkLst>
        </pc:graphicFrameChg>
        <pc:graphicFrameChg chg="del mod">
          <ac:chgData name="Rowan Medlock" userId="a4106ae20393ce3e" providerId="LiveId" clId="{EC49F2DC-25CE-40DC-B7BC-97B2BF89389E}" dt="2026-06-11T02:53:07.228" v="180" actId="478"/>
          <ac:graphicFrameMkLst>
            <pc:docMk/>
            <pc:sldMk cId="0" sldId="258"/>
            <ac:graphicFrameMk id="10" creationId="{00E87C85-A54E-5BAA-BF35-675B6C0FB5E9}"/>
          </ac:graphicFrameMkLst>
        </pc:graphicFrameChg>
        <pc:picChg chg="add mod">
          <ac:chgData name="Rowan Medlock" userId="a4106ae20393ce3e" providerId="LiveId" clId="{EC49F2DC-25CE-40DC-B7BC-97B2BF89389E}" dt="2026-06-11T02:53:13.894" v="184" actId="1076"/>
          <ac:picMkLst>
            <pc:docMk/>
            <pc:sldMk cId="0" sldId="258"/>
            <ac:picMk id="16" creationId="{90113D09-C7DD-E377-4B3A-01817C28A1AB}"/>
          </ac:picMkLst>
        </pc:picChg>
      </pc:sldChg>
      <pc:sldChg chg="addSp delSp modSp mod">
        <pc:chgData name="Rowan Medlock" userId="a4106ae20393ce3e" providerId="LiveId" clId="{EC49F2DC-25CE-40DC-B7BC-97B2BF89389E}" dt="2026-06-11T03:29:46.222" v="666" actId="20577"/>
        <pc:sldMkLst>
          <pc:docMk/>
          <pc:sldMk cId="0" sldId="261"/>
        </pc:sldMkLst>
        <pc:spChg chg="mod">
          <ac:chgData name="Rowan Medlock" userId="a4106ae20393ce3e" providerId="LiveId" clId="{EC49F2DC-25CE-40DC-B7BC-97B2BF89389E}" dt="2026-06-11T03:29:46.222" v="666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Rowan Medlock" userId="a4106ae20393ce3e" providerId="LiveId" clId="{EC49F2DC-25CE-40DC-B7BC-97B2BF89389E}" dt="2026-06-11T03:00:04.474" v="306" actId="20577"/>
          <ac:spMkLst>
            <pc:docMk/>
            <pc:sldMk cId="0" sldId="261"/>
            <ac:spMk id="6" creationId="{00000000-0000-0000-0000-000000000000}"/>
          </ac:spMkLst>
        </pc:spChg>
        <pc:spChg chg="add mod">
          <ac:chgData name="Rowan Medlock" userId="a4106ae20393ce3e" providerId="LiveId" clId="{EC49F2DC-25CE-40DC-B7BC-97B2BF89389E}" dt="2026-06-11T03:00:07.816" v="307" actId="20577"/>
          <ac:spMkLst>
            <pc:docMk/>
            <pc:sldMk cId="0" sldId="261"/>
            <ac:spMk id="15" creationId="{DC7900FE-6414-734A-8FA3-A2D49976BF3B}"/>
          </ac:spMkLst>
        </pc:spChg>
        <pc:graphicFrameChg chg="del">
          <ac:chgData name="Rowan Medlock" userId="a4106ae20393ce3e" providerId="LiveId" clId="{EC49F2DC-25CE-40DC-B7BC-97B2BF89389E}" dt="2026-06-11T02:54:31.345" v="186" actId="478"/>
          <ac:graphicFrameMkLst>
            <pc:docMk/>
            <pc:sldMk cId="0" sldId="261"/>
            <ac:graphicFrameMk id="10" creationId="{3AEC1499-8563-EE12-EB55-EC73B923690C}"/>
          </ac:graphicFrameMkLst>
        </pc:graphicFrameChg>
        <pc:graphicFrameChg chg="mod modGraphic">
          <ac:chgData name="Rowan Medlock" userId="a4106ae20393ce3e" providerId="LiveId" clId="{EC49F2DC-25CE-40DC-B7BC-97B2BF89389E}" dt="2026-06-11T03:04:30.564" v="398" actId="20577"/>
          <ac:graphicFrameMkLst>
            <pc:docMk/>
            <pc:sldMk cId="0" sldId="261"/>
            <ac:graphicFrameMk id="11" creationId="{59A47471-AD9A-E997-8844-D3FED021C39D}"/>
          </ac:graphicFrameMkLst>
        </pc:graphicFrameChg>
        <pc:picChg chg="add mod">
          <ac:chgData name="Rowan Medlock" userId="a4106ae20393ce3e" providerId="LiveId" clId="{EC49F2DC-25CE-40DC-B7BC-97B2BF89389E}" dt="2026-06-11T02:58:31.359" v="221" actId="1076"/>
          <ac:picMkLst>
            <pc:docMk/>
            <pc:sldMk cId="0" sldId="261"/>
            <ac:picMk id="12" creationId="{D685585F-3016-906E-E8C4-7D8819D1EE7D}"/>
          </ac:picMkLst>
        </pc:picChg>
        <pc:picChg chg="add mod">
          <ac:chgData name="Rowan Medlock" userId="a4106ae20393ce3e" providerId="LiveId" clId="{EC49F2DC-25CE-40DC-B7BC-97B2BF89389E}" dt="2026-06-11T02:58:27.166" v="220" actId="1076"/>
          <ac:picMkLst>
            <pc:docMk/>
            <pc:sldMk cId="0" sldId="261"/>
            <ac:picMk id="14" creationId="{BC4EA8CA-EE04-9D3B-F868-D5F0F53A1381}"/>
          </ac:picMkLst>
        </pc:picChg>
      </pc:sldChg>
      <pc:sldChg chg="modSp mod">
        <pc:chgData name="Rowan Medlock" userId="a4106ae20393ce3e" providerId="LiveId" clId="{EC49F2DC-25CE-40DC-B7BC-97B2BF89389E}" dt="2026-06-11T03:30:19.310" v="674" actId="20577"/>
        <pc:sldMkLst>
          <pc:docMk/>
          <pc:sldMk cId="0" sldId="262"/>
        </pc:sldMkLst>
        <pc:spChg chg="mod">
          <ac:chgData name="Rowan Medlock" userId="a4106ae20393ce3e" providerId="LiveId" clId="{EC49F2DC-25CE-40DC-B7BC-97B2BF89389E}" dt="2026-06-11T03:30:19.310" v="674" actId="20577"/>
          <ac:spMkLst>
            <pc:docMk/>
            <pc:sldMk cId="0" sldId="262"/>
            <ac:spMk id="5" creationId="{00000000-0000-0000-0000-000000000000}"/>
          </ac:spMkLst>
        </pc:spChg>
        <pc:graphicFrameChg chg="mod modGraphic">
          <ac:chgData name="Rowan Medlock" userId="a4106ae20393ce3e" providerId="LiveId" clId="{EC49F2DC-25CE-40DC-B7BC-97B2BF89389E}" dt="2026-06-11T03:12:16.605" v="457" actId="20577"/>
          <ac:graphicFrameMkLst>
            <pc:docMk/>
            <pc:sldMk cId="0" sldId="262"/>
            <ac:graphicFrameMk id="11" creationId="{63801469-1422-CD77-4C36-D9D0D6EBDC28}"/>
          </ac:graphicFrameMkLst>
        </pc:graphicFrameChg>
      </pc:sldChg>
      <pc:sldChg chg="modSp mod">
        <pc:chgData name="Rowan Medlock" userId="a4106ae20393ce3e" providerId="LiveId" clId="{EC49F2DC-25CE-40DC-B7BC-97B2BF89389E}" dt="2026-06-11T03:28:20.153" v="664" actId="27918"/>
        <pc:sldMkLst>
          <pc:docMk/>
          <pc:sldMk cId="0" sldId="263"/>
        </pc:sldMkLst>
        <pc:spChg chg="mod">
          <ac:chgData name="Rowan Medlock" userId="a4106ae20393ce3e" providerId="LiveId" clId="{EC49F2DC-25CE-40DC-B7BC-97B2BF89389E}" dt="2026-06-11T03:24:19.891" v="653" actId="20577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Rowan Medlock" userId="a4106ae20393ce3e" providerId="LiveId" clId="{EC49F2DC-25CE-40DC-B7BC-97B2BF89389E}" dt="2026-06-11T03:17:47.785" v="473" actId="27918"/>
        <pc:sldMkLst>
          <pc:docMk/>
          <pc:sldMk cId="0" sldId="264"/>
        </pc:sldMkLst>
        <pc:spChg chg="mod">
          <ac:chgData name="Rowan Medlock" userId="a4106ae20393ce3e" providerId="LiveId" clId="{EC49F2DC-25CE-40DC-B7BC-97B2BF89389E}" dt="2026-06-11T03:15:35.451" v="465" actId="20577"/>
          <ac:spMkLst>
            <pc:docMk/>
            <pc:sldMk cId="0" sldId="264"/>
            <ac:spMk id="5" creationId="{00000000-0000-0000-0000-000000000000}"/>
          </ac:spMkLst>
        </pc:spChg>
      </pc:sldChg>
      <pc:sldChg chg="new del">
        <pc:chgData name="Rowan Medlock" userId="a4106ae20393ce3e" providerId="LiveId" clId="{EC49F2DC-25CE-40DC-B7BC-97B2BF89389E}" dt="2026-06-11T03:33:34.963" v="677" actId="47"/>
        <pc:sldMkLst>
          <pc:docMk/>
          <pc:sldMk cId="876203836" sldId="274"/>
        </pc:sldMkLst>
      </pc:sldChg>
      <pc:sldChg chg="addSp delSp modSp add mod">
        <pc:chgData name="Rowan Medlock" userId="a4106ae20393ce3e" providerId="LiveId" clId="{EC49F2DC-25CE-40DC-B7BC-97B2BF89389E}" dt="2026-06-11T03:53:19.189" v="2103" actId="14100"/>
        <pc:sldMkLst>
          <pc:docMk/>
          <pc:sldMk cId="734248456" sldId="275"/>
        </pc:sldMkLst>
        <pc:spChg chg="mod">
          <ac:chgData name="Rowan Medlock" userId="a4106ae20393ce3e" providerId="LiveId" clId="{EC49F2DC-25CE-40DC-B7BC-97B2BF89389E}" dt="2026-06-11T03:33:53.257" v="701" actId="20577"/>
          <ac:spMkLst>
            <pc:docMk/>
            <pc:sldMk cId="734248456" sldId="275"/>
            <ac:spMk id="3" creationId="{EF23AF46-EC59-C7F7-2484-B73DECD18BC5}"/>
          </ac:spMkLst>
        </pc:spChg>
        <pc:spChg chg="mod">
          <ac:chgData name="Rowan Medlock" userId="a4106ae20393ce3e" providerId="LiveId" clId="{EC49F2DC-25CE-40DC-B7BC-97B2BF89389E}" dt="2026-06-11T03:53:08.419" v="2101" actId="14100"/>
          <ac:spMkLst>
            <pc:docMk/>
            <pc:sldMk cId="734248456" sldId="275"/>
            <ac:spMk id="4" creationId="{569F60B4-3E80-4CB8-3616-B2DCB1ED5C3F}"/>
          </ac:spMkLst>
        </pc:spChg>
        <pc:spChg chg="mod">
          <ac:chgData name="Rowan Medlock" userId="a4106ae20393ce3e" providerId="LiveId" clId="{EC49F2DC-25CE-40DC-B7BC-97B2BF89389E}" dt="2026-06-11T03:53:19.189" v="2103" actId="14100"/>
          <ac:spMkLst>
            <pc:docMk/>
            <pc:sldMk cId="734248456" sldId="275"/>
            <ac:spMk id="5" creationId="{4FD4697D-67AE-5F0D-4EBD-ED11F347A2C7}"/>
          </ac:spMkLst>
        </pc:spChg>
        <pc:spChg chg="mod">
          <ac:chgData name="Rowan Medlock" userId="a4106ae20393ce3e" providerId="LiveId" clId="{EC49F2DC-25CE-40DC-B7BC-97B2BF89389E}" dt="2026-06-11T03:40:30.250" v="875" actId="20577"/>
          <ac:spMkLst>
            <pc:docMk/>
            <pc:sldMk cId="734248456" sldId="275"/>
            <ac:spMk id="6" creationId="{9AE47A92-1D93-F583-2EB6-5461E29AB134}"/>
          </ac:spMkLst>
        </pc:spChg>
        <pc:spChg chg="mod">
          <ac:chgData name="Rowan Medlock" userId="a4106ae20393ce3e" providerId="LiveId" clId="{EC49F2DC-25CE-40DC-B7BC-97B2BF89389E}" dt="2026-06-11T03:40:41.122" v="896" actId="20577"/>
          <ac:spMkLst>
            <pc:docMk/>
            <pc:sldMk cId="734248456" sldId="275"/>
            <ac:spMk id="8" creationId="{CCE3252D-7E3E-9CA9-12BB-DF8389D774FC}"/>
          </ac:spMkLst>
        </pc:spChg>
        <pc:graphicFrameChg chg="del">
          <ac:chgData name="Rowan Medlock" userId="a4106ae20393ce3e" providerId="LiveId" clId="{EC49F2DC-25CE-40DC-B7BC-97B2BF89389E}" dt="2026-06-11T03:34:04.848" v="702" actId="478"/>
          <ac:graphicFrameMkLst>
            <pc:docMk/>
            <pc:sldMk cId="734248456" sldId="275"/>
            <ac:graphicFrameMk id="7" creationId="{6EF59882-93FA-CEA1-C902-06B319131FA2}"/>
          </ac:graphicFrameMkLst>
        </pc:graphicFrameChg>
        <pc:graphicFrameChg chg="del">
          <ac:chgData name="Rowan Medlock" userId="a4106ae20393ce3e" providerId="LiveId" clId="{EC49F2DC-25CE-40DC-B7BC-97B2BF89389E}" dt="2026-06-11T03:34:06.330" v="703" actId="478"/>
          <ac:graphicFrameMkLst>
            <pc:docMk/>
            <pc:sldMk cId="734248456" sldId="275"/>
            <ac:graphicFrameMk id="9" creationId="{CFC6E921-5A22-369E-0B91-3E7A2907B9B9}"/>
          </ac:graphicFrameMkLst>
        </pc:graphicFrameChg>
        <pc:picChg chg="add mod">
          <ac:chgData name="Rowan Medlock" userId="a4106ae20393ce3e" providerId="LiveId" clId="{EC49F2DC-25CE-40DC-B7BC-97B2BF89389E}" dt="2026-06-11T03:38:54.417" v="732" actId="1076"/>
          <ac:picMkLst>
            <pc:docMk/>
            <pc:sldMk cId="734248456" sldId="275"/>
            <ac:picMk id="13" creationId="{929EC6E5-4AC1-E541-2831-F0EB5E95BA24}"/>
          </ac:picMkLst>
        </pc:picChg>
        <pc:picChg chg="add mod">
          <ac:chgData name="Rowan Medlock" userId="a4106ae20393ce3e" providerId="LiveId" clId="{EC49F2DC-25CE-40DC-B7BC-97B2BF89389E}" dt="2026-06-11T03:38:47.397" v="730" actId="14100"/>
          <ac:picMkLst>
            <pc:docMk/>
            <pc:sldMk cId="734248456" sldId="275"/>
            <ac:picMk id="15" creationId="{D67E6FCF-B884-9751-239D-F447E4B75C2E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4956150278760861"/>
          <c:y val="4.1856925418569252E-2"/>
          <c:w val="0.71458989738181844"/>
          <c:h val="0.8557329306439435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Entities</c:v>
                </c:pt>
              </c:strCache>
            </c:strRef>
          </c:tx>
          <c:spPr>
            <a:solidFill>
              <a:srgbClr val="1C5D7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F294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Okanogan</c:v>
                </c:pt>
                <c:pt idx="1">
                  <c:v>Grays Harbor</c:v>
                </c:pt>
                <c:pt idx="2">
                  <c:v>Cowlitz</c:v>
                </c:pt>
                <c:pt idx="3">
                  <c:v>Lincoln</c:v>
                </c:pt>
                <c:pt idx="4">
                  <c:v>Whitman</c:v>
                </c:pt>
                <c:pt idx="5">
                  <c:v>Klickitat</c:v>
                </c:pt>
                <c:pt idx="6">
                  <c:v>Skamania</c:v>
                </c:pt>
                <c:pt idx="7">
                  <c:v>Adams</c:v>
                </c:pt>
                <c:pt idx="8">
                  <c:v>Wahkiakum</c:v>
                </c:pt>
                <c:pt idx="9">
                  <c:v>Asotin</c:v>
                </c:pt>
                <c:pt idx="10">
                  <c:v>Ferry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0</c:v>
                </c:pt>
                <c:pt idx="6">
                  <c:v>2</c:v>
                </c:pt>
                <c:pt idx="7">
                  <c:v>1</c:v>
                </c:pt>
                <c:pt idx="8">
                  <c:v>0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22-4D9E-B629-B89AABD40D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7DC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Entities</c:v>
                </c:pt>
              </c:strCache>
            </c:strRef>
          </c:tx>
          <c:spPr>
            <a:solidFill>
              <a:srgbClr val="1C5D7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F294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Okanogan</c:v>
                </c:pt>
                <c:pt idx="1">
                  <c:v>Grays Harbor</c:v>
                </c:pt>
                <c:pt idx="2">
                  <c:v>Cowlitz</c:v>
                </c:pt>
                <c:pt idx="3">
                  <c:v>Lincoln</c:v>
                </c:pt>
                <c:pt idx="4">
                  <c:v>Whitman</c:v>
                </c:pt>
                <c:pt idx="5">
                  <c:v>Klickitat</c:v>
                </c:pt>
                <c:pt idx="6">
                  <c:v>Skamania</c:v>
                </c:pt>
                <c:pt idx="7">
                  <c:v>Adams</c:v>
                </c:pt>
                <c:pt idx="8">
                  <c:v>Wahkiakum</c:v>
                </c:pt>
                <c:pt idx="9">
                  <c:v>Asotin</c:v>
                </c:pt>
                <c:pt idx="10">
                  <c:v>Ferry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</c:v>
                </c:pt>
                <c:pt idx="1">
                  <c:v>7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0</c:v>
                </c:pt>
                <c:pt idx="6">
                  <c:v>3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CF-4A3F-B988-383B83E98C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7DC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 towns</c:v>
                </c:pt>
              </c:strCache>
            </c:strRef>
          </c:tx>
          <c:spPr>
            <a:solidFill>
              <a:srgbClr val="2E8B9C"/>
            </a:solidFill>
            <a:effectLst/>
          </c:spPr>
          <c:invertIfNegative val="0"/>
          <c:cat>
            <c:strRef>
              <c:f>Sheet1!$A$2:$A$19</c:f>
              <c:strCache>
                <c:ptCount val="7"/>
                <c:pt idx="0">
                  <c:v>Winthrop</c:v>
                </c:pt>
                <c:pt idx="1">
                  <c:v>Othello</c:v>
                </c:pt>
                <c:pt idx="2">
                  <c:v>Pateros</c:v>
                </c:pt>
                <c:pt idx="3">
                  <c:v>Elma</c:v>
                </c:pt>
                <c:pt idx="4">
                  <c:v>Woodland</c:v>
                </c:pt>
                <c:pt idx="5">
                  <c:v>Oroville</c:v>
                </c:pt>
                <c:pt idx="6">
                  <c:v>White Salmon (ref)</c:v>
                </c:pt>
              </c:strCache>
              <c:extLst/>
            </c:strRef>
          </c:cat>
          <c:val>
            <c:numRef>
              <c:f>Sheet1!$B$2:$B$19</c:f>
              <c:numCache>
                <c:formatCode>General</c:formatCode>
                <c:ptCount val="7"/>
                <c:pt idx="0">
                  <c:v>39.1</c:v>
                </c:pt>
                <c:pt idx="1">
                  <c:v>18.399999999999999</c:v>
                </c:pt>
                <c:pt idx="2">
                  <c:v>16.2</c:v>
                </c:pt>
                <c:pt idx="3">
                  <c:v>12.8</c:v>
                </c:pt>
                <c:pt idx="4">
                  <c:v>12.7</c:v>
                </c:pt>
                <c:pt idx="5">
                  <c:v>7.4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285B-438B-AB71-2F334D1C22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White Salmon (ref)</c:v>
                </c:pt>
              </c:strCache>
            </c:strRef>
          </c:tx>
          <c:spPr>
            <a:solidFill>
              <a:srgbClr val="E07A3C"/>
            </a:solidFill>
            <a:effectLst/>
          </c:spPr>
          <c:invertIfNegative val="0"/>
          <c:cat>
            <c:strRef>
              <c:f>Sheet1!$A$2:$A$19</c:f>
              <c:strCache>
                <c:ptCount val="7"/>
                <c:pt idx="0">
                  <c:v>Winthrop</c:v>
                </c:pt>
                <c:pt idx="1">
                  <c:v>Othello</c:v>
                </c:pt>
                <c:pt idx="2">
                  <c:v>Pateros</c:v>
                </c:pt>
                <c:pt idx="3">
                  <c:v>Elma</c:v>
                </c:pt>
                <c:pt idx="4">
                  <c:v>Woodland</c:v>
                </c:pt>
                <c:pt idx="5">
                  <c:v>Oroville</c:v>
                </c:pt>
                <c:pt idx="6">
                  <c:v>White Salmon (ref)</c:v>
                </c:pt>
              </c:strCache>
              <c:extLst/>
            </c:strRef>
          </c:cat>
          <c:val>
            <c:numRef>
              <c:f>Sheet1!$C$2:$C$19</c:f>
              <c:numCache>
                <c:formatCode>General</c:formatCode>
                <c:ptCount val="7"/>
                <c:pt idx="6">
                  <c:v>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285B-438B-AB71-2F334D1C22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7DC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2E8B9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F294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Connections</c:v>
                </c:pt>
                <c:pt idx="1">
                  <c:v>Water Sources</c:v>
                </c:pt>
                <c:pt idx="2">
                  <c:v>Sewage</c:v>
                </c:pt>
                <c:pt idx="3">
                  <c:v>Aquifer Storage</c:v>
                </c:pt>
                <c:pt idx="4">
                  <c:v>Water Treatment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4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5F-4E75-A777-21A4F5893B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7DC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1C5D7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F294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Connection fee</c:v>
                </c:pt>
                <c:pt idx="1">
                  <c:v>SDC</c:v>
                </c:pt>
                <c:pt idx="2">
                  <c:v>Grants</c:v>
                </c:pt>
                <c:pt idx="3">
                  <c:v>Other</c:v>
                </c:pt>
                <c:pt idx="4">
                  <c:v>Tax rates</c:v>
                </c:pt>
                <c:pt idx="5">
                  <c:v>Development charge</c:v>
                </c:pt>
                <c:pt idx="6">
                  <c:v>CFC</c:v>
                </c:pt>
                <c:pt idx="7">
                  <c:v>Impact fee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34-4956-BE9E-D88BC73256F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7DC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2E8B9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F294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Overall cost analysis</c:v>
                </c:pt>
                <c:pt idx="1">
                  <c:v>Meter size</c:v>
                </c:pt>
                <c:pt idx="2">
                  <c:v>Grandfathered/inflation</c:v>
                </c:pt>
                <c:pt idx="3">
                  <c:v>ERUs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16-49E2-885C-77B9C2A4A5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7DC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1C5D7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F294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Meter location</c:v>
                </c:pt>
                <c:pt idx="1">
                  <c:v>Asset valuation</c:v>
                </c:pt>
                <c:pt idx="2">
                  <c:v>Separate val. tool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6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6C-4B5C-843D-F74C8CE9A8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7DC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164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27510-7717-7B09-C62C-0C8A01A33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39E3D4-F057-6BC0-3F5E-5CDADB8CD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9AA35B-D1E4-1BB5-187D-AFB8FD299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C4045-50D8-4593-64FE-68851BCA04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98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13DFF-9C04-BA30-9D66-7AE617B28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F2C64-7FB6-813B-3ADE-D7C0A42A62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989EF5-9E81-F84D-8BF2-38BFA4E6F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1A1A1A"/>
              </a:solidFill>
              <a:effectLst/>
              <a:latin typeface="Georgia" panose="02040502050405020303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FFE33-5959-63EE-2620-5F3C59DE1B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81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00E63-FE06-ED5C-755C-79A65D15D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C2BDA3-3824-76CC-99A8-6479E1481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29BD8-54E1-4E79-9E5A-EDE5CB96F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64715-EA5D-6BFC-A6C6-77864D2D5B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95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05CA7-1A79-693A-C6BA-D2C4A1B83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FC6E1A-B529-46E7-F3A9-1179E075C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E2BE4-F558-2010-57BA-9A4503DDA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C9D3F-7C9D-DEE3-EE77-A2F86BC226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304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 GMA Public Works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7FB8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Surveying Data — Initial Descriptive Statistics Report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out of 39 entities surveyed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7F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Washington counties  ·  9 survey questions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overview of how various Washington public works staff perceive growth, plan infrastructure, and fund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4E6CE-E6CE-E043-7A95-38895EFEE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EA6BD4-A947-E341-2A8D-D4ABE0C633D3}"/>
              </a:ext>
            </a:extLst>
          </p:cNvPr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E07A3C"/>
          </a:solidFill>
          <a:ln w="12700">
            <a:solidFill>
              <a:srgbClr val="E0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1EE2221-308E-4E14-0BFF-200784F690BC}"/>
              </a:ext>
            </a:extLst>
          </p:cNvPr>
          <p:cNvSpPr/>
          <p:nvPr/>
        </p:nvSpPr>
        <p:spPr>
          <a:xfrm>
            <a:off x="713232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Survey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64F73D7-B0A2-846A-8C40-2EFCF62643A7}"/>
              </a:ext>
            </a:extLst>
          </p:cNvPr>
          <p:cNvSpPr/>
          <p:nvPr/>
        </p:nvSpPr>
        <p:spPr>
          <a:xfrm>
            <a:off x="403849" y="1234440"/>
            <a:ext cx="4090737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/>
              <a:t>Goal: Find towns in a similar spot to White Salmon, get an idea of how they handle their water infrastructure costs</a:t>
            </a:r>
          </a:p>
          <a:p>
            <a:pPr marL="342900" indent="-342900">
              <a:spcAft>
                <a:spcPts val="1200"/>
              </a:spcAft>
              <a:buSzPct val="100000"/>
              <a:buFontTx/>
              <a:buChar char="■"/>
            </a:pPr>
            <a:r>
              <a:rPr lang="en-US" sz="1600" dirty="0"/>
              <a:t>9 questions</a:t>
            </a:r>
          </a:p>
          <a:p>
            <a:pPr marL="342900" indent="-342900">
              <a:spcAft>
                <a:spcPts val="1200"/>
              </a:spcAft>
              <a:buSzPct val="100000"/>
              <a:buFontTx/>
              <a:buChar char="■"/>
            </a:pP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2891955-38C8-5AC8-F550-13AEE1B67CDF}"/>
              </a:ext>
            </a:extLst>
          </p:cNvPr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GMA Public Works Survey  |  Descriptive Statistics</a:t>
            </a:r>
            <a:endParaRPr lang="en-US" sz="9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FBCBC52-244D-DA41-1213-7A2736497922}"/>
              </a:ext>
            </a:extLst>
          </p:cNvPr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3CF967-C3B0-125A-C843-80F5D42AB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055907"/>
              </p:ext>
            </p:extLst>
          </p:nvPr>
        </p:nvGraphicFramePr>
        <p:xfrm>
          <a:off x="4803969" y="0"/>
          <a:ext cx="7388031" cy="6864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88031">
                  <a:extLst>
                    <a:ext uri="{9D8B030D-6E8A-4147-A177-3AD203B41FA5}">
                      <a16:colId xmlns:a16="http://schemas.microsoft.com/office/drawing/2014/main" val="3780359095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marL="0" indent="0" algn="l" fontAlgn="b">
                        <a:buNone/>
                      </a:pPr>
                      <a:r>
                        <a:rPr lang="en-US" sz="1800" u="none" strike="noStrike" baseline="0" dirty="0">
                          <a:effectLst/>
                        </a:rPr>
                        <a:t>1. Alright, for starters what is your formal title in relation to [city] , [name]?</a:t>
                      </a:r>
                    </a:p>
                    <a:p>
                      <a:pPr marL="0" indent="0" algn="l" fontAlgn="b">
                        <a:buNone/>
                      </a:pPr>
                      <a:br>
                        <a:rPr lang="en-US" sz="1800" u="none" strike="noStrike" baseline="0" dirty="0">
                          <a:effectLst/>
                        </a:rPr>
                      </a:br>
                      <a:r>
                        <a:rPr lang="en-US" sz="1800" u="none" strike="noStrike" baseline="0" dirty="0">
                          <a:effectLst/>
                        </a:rPr>
                        <a:t>2. Do you happen to know the GMA status of your county?</a:t>
                      </a:r>
                    </a:p>
                    <a:p>
                      <a:pPr marL="0" indent="0" algn="l" fontAlgn="b">
                        <a:buNone/>
                      </a:pPr>
                      <a:br>
                        <a:rPr lang="en-US" sz="1800" u="none" strike="noStrike" baseline="0" dirty="0">
                          <a:effectLst/>
                        </a:rPr>
                      </a:br>
                      <a:r>
                        <a:rPr lang="en-US" sz="1800" u="none" strike="noStrike" baseline="0" dirty="0">
                          <a:effectLst/>
                        </a:rPr>
                        <a:t>3. Would you say the population of [city] has grown significantly in the last 10 years?</a:t>
                      </a:r>
                    </a:p>
                    <a:p>
                      <a:pPr marL="0" indent="0" algn="l" fontAlgn="b">
                        <a:buNone/>
                      </a:pPr>
                      <a:br>
                        <a:rPr lang="en-US" sz="1800" u="none" strike="noStrike" baseline="0" dirty="0">
                          <a:effectLst/>
                        </a:rPr>
                      </a:br>
                      <a:r>
                        <a:rPr lang="en-US" sz="1800" u="none" strike="noStrike" baseline="0" dirty="0">
                          <a:effectLst/>
                        </a:rPr>
                        <a:t>4. Does your town sell or provide water to any neighboring towns?</a:t>
                      </a:r>
                    </a:p>
                    <a:p>
                      <a:pPr marL="0" indent="0" algn="l" fontAlgn="b">
                        <a:buNone/>
                      </a:pPr>
                      <a:br>
                        <a:rPr lang="en-US" sz="1800" u="none" strike="noStrike" baseline="0" dirty="0">
                          <a:effectLst/>
                        </a:rPr>
                      </a:br>
                      <a:r>
                        <a:rPr lang="en-US" sz="1800" u="none" strike="noStrike" baseline="0" dirty="0">
                          <a:effectLst/>
                        </a:rPr>
                        <a:t>5. Has your department needed to expand the water infrastructure for your city at any point in the last 10 years?</a:t>
                      </a:r>
                    </a:p>
                    <a:p>
                      <a:pPr marL="0" indent="0" algn="l" fontAlgn="b">
                        <a:buNone/>
                      </a:pPr>
                      <a:br>
                        <a:rPr lang="en-US" sz="1800" u="none" strike="noStrike" baseline="0" dirty="0">
                          <a:effectLst/>
                        </a:rPr>
                      </a:br>
                      <a:r>
                        <a:rPr lang="en-US" sz="1800" u="none" strike="noStrike" baseline="0" dirty="0">
                          <a:effectLst/>
                        </a:rPr>
                        <a:t>6. How does your department raise funds for expansions of water infrastructure? Do you levy any upfront fees, like system development charges or capacity fee charges?</a:t>
                      </a:r>
                    </a:p>
                    <a:p>
                      <a:pPr marL="0" indent="0" algn="l" fontAlgn="b">
                        <a:buNone/>
                      </a:pPr>
                      <a:br>
                        <a:rPr lang="en-US" sz="1800" u="none" strike="noStrike" baseline="0" dirty="0">
                          <a:effectLst/>
                        </a:rPr>
                      </a:br>
                      <a:r>
                        <a:rPr lang="en-US" sz="1800" u="none" strike="noStrike" baseline="0" dirty="0">
                          <a:effectLst/>
                        </a:rPr>
                        <a:t>7. How are those funding methods typically calculated? For instance, do certain factors change how much the customer or developer on your water network pays?</a:t>
                      </a:r>
                    </a:p>
                    <a:p>
                      <a:pPr marL="0" indent="0" algn="l" fontAlgn="b">
                        <a:buNone/>
                      </a:pPr>
                      <a:br>
                        <a:rPr lang="en-US" sz="1800" u="none" strike="noStrike" baseline="0" dirty="0">
                          <a:effectLst/>
                        </a:rPr>
                      </a:br>
                      <a:r>
                        <a:rPr lang="en-US" sz="1800" u="none" strike="noStrike" baseline="0" dirty="0">
                          <a:effectLst/>
                        </a:rPr>
                        <a:t>8. Does your department utilize a GIS tool for your town’s water meters? If so, is this used when calculating fees and bills?</a:t>
                      </a:r>
                    </a:p>
                    <a:p>
                      <a:pPr marL="0" indent="0" algn="l" fontAlgn="b">
                        <a:buNone/>
                      </a:pPr>
                      <a:br>
                        <a:rPr lang="en-US" sz="1800" u="none" strike="noStrike" baseline="0" dirty="0">
                          <a:effectLst/>
                        </a:rPr>
                      </a:br>
                      <a:r>
                        <a:rPr lang="en-US" sz="1800" u="none" strike="noStrike" baseline="0" dirty="0">
                          <a:effectLst/>
                        </a:rPr>
                        <a:t>9. Is there anything you would like to add that you think may be helpful on this matter?</a:t>
                      </a:r>
                      <a:endParaRPr 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74157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9269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460CF-8EBA-B88F-9A16-9B13A6D64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17A5A68-8A58-C5F1-3A4B-5831BFA263F2}"/>
              </a:ext>
            </a:extLst>
          </p:cNvPr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E07A3C"/>
          </a:solidFill>
          <a:ln w="12700">
            <a:solidFill>
              <a:srgbClr val="E0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53EEE5-F81C-AF87-0E14-066C484772D8}"/>
              </a:ext>
            </a:extLst>
          </p:cNvPr>
          <p:cNvSpPr/>
          <p:nvPr/>
        </p:nvSpPr>
        <p:spPr>
          <a:xfrm>
            <a:off x="713232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 Salmon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178CD0-6235-E91F-0DBA-24B95DC32216}"/>
              </a:ext>
            </a:extLst>
          </p:cNvPr>
          <p:cNvSpPr/>
          <p:nvPr/>
        </p:nvSpPr>
        <p:spPr>
          <a:xfrm>
            <a:off x="713232" y="155448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/>
              <a:t>In Klickitat county, which is a partial planning Growth Management Act (GMA) county</a:t>
            </a:r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/>
              <a:t>Sells water outside of city limits to the town of Bingen</a:t>
            </a:r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/>
              <a:t>Has funded multiple water infrastructure expansion projects within the last 10 years</a:t>
            </a:r>
          </a:p>
          <a:p>
            <a:pPr marL="342900" indent="-342900">
              <a:spcAft>
                <a:spcPts val="1200"/>
              </a:spcAft>
              <a:buSzPct val="100000"/>
              <a:buFontTx/>
              <a:buChar char="■"/>
            </a:pPr>
            <a:r>
              <a:rPr lang="en-US" sz="1600" dirty="0"/>
              <a:t>Population growth of </a:t>
            </a: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5.99%</a:t>
            </a:r>
            <a:r>
              <a:rPr lang="en-US" sz="1600" dirty="0"/>
              <a:t> within the last 10 years </a:t>
            </a: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(2,420 → 2,565)</a:t>
            </a:r>
            <a:endParaRPr lang="en-US" sz="1600" dirty="0"/>
          </a:p>
          <a:p>
            <a:pPr>
              <a:spcAft>
                <a:spcPts val="1200"/>
              </a:spcAft>
              <a:buSzPct val="100000"/>
            </a:pPr>
            <a:endParaRPr lang="en-US" sz="1600" dirty="0"/>
          </a:p>
          <a:p>
            <a:pPr>
              <a:spcAft>
                <a:spcPts val="1200"/>
              </a:spcAft>
              <a:buSzPct val="100000"/>
            </a:pPr>
            <a:r>
              <a:rPr lang="en-US" sz="1600" dirty="0"/>
              <a:t>These characteristics shape the sample selection, questions asked in the survey, and how those answers are interpreted</a:t>
            </a:r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F5E68DB-0412-412F-6E2E-10F56CC4542B}"/>
              </a:ext>
            </a:extLst>
          </p:cNvPr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GMA Public Works Survey  |  Descriptive Statistics</a:t>
            </a:r>
            <a:endParaRPr lang="en-US" sz="9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FEC0B73-6F94-5689-1709-8A9A57287460}"/>
              </a:ext>
            </a:extLst>
          </p:cNvPr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58415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E07A3C"/>
          </a:solidFill>
          <a:ln w="12700">
            <a:solidFill>
              <a:srgbClr val="E0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composition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entities · 11 counties · 16 useful responses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9851"/>
            <a:ext cx="10928112" cy="1040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towns and PUDs sampled are from the 11 partial-planning GMA counties in WA state. </a:t>
            </a:r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out of 42 towns and county-level entities contacted across Washington (no surveying in Klickitat county to avoid skewing data)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surveys (40.5%) yielded useful, codable participation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entries are county-level “Public Utilities Districts" rather than incorporated towns</a:t>
            </a:r>
            <a:endParaRPr lang="en-US" sz="16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669486310"/>
              </p:ext>
            </p:extLst>
          </p:nvPr>
        </p:nvGraphicFramePr>
        <p:xfrm>
          <a:off x="328290" y="3529206"/>
          <a:ext cx="5592966" cy="2940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GMA Public Works Survey  |  Descriptive Statistics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graphicFrame>
        <p:nvGraphicFramePr>
          <p:cNvPr id="10" name="Chart 0">
            <a:extLst>
              <a:ext uri="{FF2B5EF4-FFF2-40B4-BE49-F238E27FC236}">
                <a16:creationId xmlns:a16="http://schemas.microsoft.com/office/drawing/2014/main" id="{26BEA2E2-FDFE-A6D1-66CF-F71CA877B1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8269840"/>
              </p:ext>
            </p:extLst>
          </p:nvPr>
        </p:nvGraphicFramePr>
        <p:xfrm>
          <a:off x="6358862" y="3506346"/>
          <a:ext cx="5187330" cy="2940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2">
            <a:extLst>
              <a:ext uri="{FF2B5EF4-FFF2-40B4-BE49-F238E27FC236}">
                <a16:creationId xmlns:a16="http://schemas.microsoft.com/office/drawing/2014/main" id="{13EE6BD7-C8C3-99E2-3F2F-595B4F3ECF48}"/>
              </a:ext>
            </a:extLst>
          </p:cNvPr>
          <p:cNvSpPr/>
          <p:nvPr/>
        </p:nvSpPr>
        <p:spPr>
          <a:xfrm>
            <a:off x="457200" y="2999990"/>
            <a:ext cx="39910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per county</a:t>
            </a:r>
            <a:endParaRPr lang="en-US" sz="14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65DFBE1A-9534-A201-DCA6-420506E44CC6}"/>
              </a:ext>
            </a:extLst>
          </p:cNvPr>
          <p:cNvSpPr/>
          <p:nvPr/>
        </p:nvSpPr>
        <p:spPr>
          <a:xfrm>
            <a:off x="6515387" y="2999990"/>
            <a:ext cx="39910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 surveys per county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F784B-EF79-450E-87CC-DA6F94CF7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E2A0F9-486C-484E-58B8-A6A6538CFEC0}"/>
              </a:ext>
            </a:extLst>
          </p:cNvPr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E07A3C"/>
          </a:solidFill>
          <a:ln w="12700">
            <a:solidFill>
              <a:srgbClr val="E0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087AA1-0857-6F93-4D90-42AC28E68E90}"/>
              </a:ext>
            </a:extLst>
          </p:cNvPr>
          <p:cNvSpPr/>
          <p:nvPr/>
        </p:nvSpPr>
        <p:spPr>
          <a:xfrm>
            <a:off x="713232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 Findings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9E7B457-4C71-B4E0-F107-D9F577F97DB0}"/>
              </a:ext>
            </a:extLst>
          </p:cNvPr>
          <p:cNvSpPr/>
          <p:nvPr/>
        </p:nvSpPr>
        <p:spPr>
          <a:xfrm>
            <a:off x="713232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patterns that recur across the survey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7884580-C568-0A21-BC63-5160D93A3E04}"/>
              </a:ext>
            </a:extLst>
          </p:cNvPr>
          <p:cNvSpPr/>
          <p:nvPr/>
        </p:nvSpPr>
        <p:spPr>
          <a:xfrm>
            <a:off x="713232" y="1691640"/>
            <a:ext cx="106984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B7914CA-2D83-DA85-183F-F210E8DB9509}"/>
              </a:ext>
            </a:extLst>
          </p:cNvPr>
          <p:cNvSpPr/>
          <p:nvPr/>
        </p:nvSpPr>
        <p:spPr>
          <a:xfrm>
            <a:off x="868680" y="187452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0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4F9CE63-592B-4EB7-2170-DB57D567C846}"/>
              </a:ext>
            </a:extLst>
          </p:cNvPr>
          <p:cNvSpPr/>
          <p:nvPr/>
        </p:nvSpPr>
        <p:spPr>
          <a:xfrm>
            <a:off x="1783080" y="1874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infrastructure expansion within the last 10 years is the norm  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BC62C70-A3A2-14D6-B9BE-CC7C7BA37291}"/>
              </a:ext>
            </a:extLst>
          </p:cNvPr>
          <p:cNvSpPr/>
          <p:nvPr/>
        </p:nvSpPr>
        <p:spPr>
          <a:xfrm>
            <a:off x="1783080" y="22585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expanders added connections, 4 had more major infrastructure projects.</a:t>
            </a:r>
            <a:endParaRPr lang="en-US" sz="1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CF1E36F-5EC6-5442-568F-4897BDFCAB25}"/>
              </a:ext>
            </a:extLst>
          </p:cNvPr>
          <p:cNvSpPr/>
          <p:nvPr/>
        </p:nvSpPr>
        <p:spPr>
          <a:xfrm>
            <a:off x="713232" y="2852928"/>
            <a:ext cx="106984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7CCC0E6-921A-840B-F55C-F245E58B6B31}"/>
              </a:ext>
            </a:extLst>
          </p:cNvPr>
          <p:cNvSpPr/>
          <p:nvPr/>
        </p:nvSpPr>
        <p:spPr>
          <a:xfrm>
            <a:off x="868680" y="303580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0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C788504-9B3C-7969-26C9-6EE19476E974}"/>
              </a:ext>
            </a:extLst>
          </p:cNvPr>
          <p:cNvSpPr/>
          <p:nvPr/>
        </p:nvSpPr>
        <p:spPr>
          <a:xfrm>
            <a:off x="1783080" y="30358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 awareness is low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BA17787-0E74-04C6-4536-FBBEE42B202D}"/>
              </a:ext>
            </a:extLst>
          </p:cNvPr>
          <p:cNvSpPr/>
          <p:nvPr/>
        </p:nvSpPr>
        <p:spPr>
          <a:xfrm>
            <a:off x="1783080" y="341985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counties in the sample are partial planning, a little more than half of the PWDs weren’t aware of that.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E87BEE4-A06D-EE92-2C3B-30A2FC201343}"/>
              </a:ext>
            </a:extLst>
          </p:cNvPr>
          <p:cNvSpPr/>
          <p:nvPr/>
        </p:nvSpPr>
        <p:spPr>
          <a:xfrm>
            <a:off x="713232" y="4014216"/>
            <a:ext cx="106984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AECEF45-B097-41CB-741F-10922284461F}"/>
              </a:ext>
            </a:extLst>
          </p:cNvPr>
          <p:cNvSpPr/>
          <p:nvPr/>
        </p:nvSpPr>
        <p:spPr>
          <a:xfrm>
            <a:off x="868680" y="4197096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0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E769405-13D4-59A7-8EF0-82B5CC39BDF6}"/>
              </a:ext>
            </a:extLst>
          </p:cNvPr>
          <p:cNvSpPr/>
          <p:nvPr/>
        </p:nvSpPr>
        <p:spPr>
          <a:xfrm>
            <a:off x="1783080" y="419709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is heterogeneous – but mostly utilizes some form of upfront development fee</a:t>
            </a:r>
            <a:endParaRPr lang="en-US" sz="1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869384C-1C10-314D-251D-887114B8F6FB}"/>
              </a:ext>
            </a:extLst>
          </p:cNvPr>
          <p:cNvSpPr/>
          <p:nvPr/>
        </p:nvSpPr>
        <p:spPr>
          <a:xfrm>
            <a:off x="1783080" y="458114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dominant mechanism; CFCs and impact fees rare; SDCs, connection fees, and grants more common.</a:t>
            </a:r>
            <a:endParaRPr lang="en-US" sz="13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E54CD41-E4B2-37F8-0136-978D2A8AFAB6}"/>
              </a:ext>
            </a:extLst>
          </p:cNvPr>
          <p:cNvSpPr/>
          <p:nvPr/>
        </p:nvSpPr>
        <p:spPr>
          <a:xfrm>
            <a:off x="713232" y="5175504"/>
            <a:ext cx="106984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7AFDBA8-0368-EA33-785C-4A2BBAEB563E}"/>
              </a:ext>
            </a:extLst>
          </p:cNvPr>
          <p:cNvSpPr/>
          <p:nvPr/>
        </p:nvSpPr>
        <p:spPr>
          <a:xfrm>
            <a:off x="868680" y="5358384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07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93D564B-B111-A463-9652-61E2C1AB4107}"/>
              </a:ext>
            </a:extLst>
          </p:cNvPr>
          <p:cNvSpPr/>
          <p:nvPr/>
        </p:nvSpPr>
        <p:spPr>
          <a:xfrm>
            <a:off x="1783080" y="535838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is widespread but narrow</a:t>
            </a: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945F7F5-3F1F-771D-F86D-1B28B149083F}"/>
              </a:ext>
            </a:extLst>
          </p:cNvPr>
          <p:cNvSpPr/>
          <p:nvPr/>
        </p:nvSpPr>
        <p:spPr>
          <a:xfrm>
            <a:off x="1783080" y="57424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use GIS tools — almost all for meter location, more sparingly for fee modeling or asset valuation.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2B42E6E-2499-5F03-D2E4-2A270A8E72E3}"/>
              </a:ext>
            </a:extLst>
          </p:cNvPr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GMA Public Works Survey  |  Descriptive Statistics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1AC0C7F-4A9D-A4A3-F436-5384180199E7}"/>
              </a:ext>
            </a:extLst>
          </p:cNvPr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22739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E07A3C"/>
          </a:solidFill>
          <a:ln w="12700">
            <a:solidFill>
              <a:srgbClr val="E0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— Knowledge of GMA status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awareness vs. fact-checked reality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" y="155448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useful respondents: 7 of them knew, 9 of them did not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half of all public works staff surveyed didn't know their county's GMA standing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Fact-check: every one of the 11 counties is "partially planning" under GMA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GMA status is mostly invisible to operators day-to-day, even when it formally applies</a:t>
            </a:r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worth noting when looking at funding outliers</a:t>
            </a:r>
            <a:endParaRPr lang="en-US" sz="1600" b="1" dirty="0"/>
          </a:p>
        </p:txBody>
      </p:sp>
      <p:sp>
        <p:nvSpPr>
          <p:cNvPr id="6" name="Text 4"/>
          <p:cNvSpPr/>
          <p:nvPr/>
        </p:nvSpPr>
        <p:spPr>
          <a:xfrm>
            <a:off x="612648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of GMA status?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31119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GMA Public Works Survey  |  Descriptive Statistics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0113D09-C7DD-E377-4B3A-01817C28A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965960"/>
            <a:ext cx="4801458" cy="37856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E07A3C"/>
          </a:solidFill>
          <a:ln w="12700">
            <a:solidFill>
              <a:srgbClr val="E0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— Population growth: White Salmon as reference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Towns that grew at or above White Salmon's pace (OFM 2015 → 2025)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1" y="1361942"/>
            <a:ext cx="11263345" cy="982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Salmon WA grew 5.99% over the decade (2,420 → 2,565)</a:t>
            </a:r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6/17 surveyed towns had a population growth above White Salmon’s </a:t>
            </a:r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reported population growth was mostly inaccurate: Only 4 of 17 useful respondents reported feeling population growth in Q3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23973" y="2558273"/>
            <a:ext cx="5486400" cy="37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 Towns at or above White Salmon's 5.99% growth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139175335"/>
              </p:ext>
            </p:extLst>
          </p:nvPr>
        </p:nvGraphicFramePr>
        <p:xfrm>
          <a:off x="6923973" y="3018208"/>
          <a:ext cx="4780347" cy="3474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GMA Public Works Survey  |  Descriptive Statistics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B73B9A2-5C45-6296-BA0E-38A964255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599997"/>
              </p:ext>
            </p:extLst>
          </p:nvPr>
        </p:nvGraphicFramePr>
        <p:xfrm>
          <a:off x="223336" y="2703456"/>
          <a:ext cx="6390981" cy="36283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291">
                  <a:extLst>
                    <a:ext uri="{9D8B030D-6E8A-4147-A177-3AD203B41FA5}">
                      <a16:colId xmlns:a16="http://schemas.microsoft.com/office/drawing/2014/main" val="2868386265"/>
                    </a:ext>
                  </a:extLst>
                </a:gridCol>
                <a:gridCol w="982664">
                  <a:extLst>
                    <a:ext uri="{9D8B030D-6E8A-4147-A177-3AD203B41FA5}">
                      <a16:colId xmlns:a16="http://schemas.microsoft.com/office/drawing/2014/main" val="3997829419"/>
                    </a:ext>
                  </a:extLst>
                </a:gridCol>
                <a:gridCol w="1650271">
                  <a:extLst>
                    <a:ext uri="{9D8B030D-6E8A-4147-A177-3AD203B41FA5}">
                      <a16:colId xmlns:a16="http://schemas.microsoft.com/office/drawing/2014/main" val="81592242"/>
                    </a:ext>
                  </a:extLst>
                </a:gridCol>
                <a:gridCol w="1486209">
                  <a:extLst>
                    <a:ext uri="{9D8B030D-6E8A-4147-A177-3AD203B41FA5}">
                      <a16:colId xmlns:a16="http://schemas.microsoft.com/office/drawing/2014/main" val="2865708598"/>
                    </a:ext>
                  </a:extLst>
                </a:gridCol>
                <a:gridCol w="1683546">
                  <a:extLst>
                    <a:ext uri="{9D8B030D-6E8A-4147-A177-3AD203B41FA5}">
                      <a16:colId xmlns:a16="http://schemas.microsoft.com/office/drawing/2014/main" val="3008808246"/>
                    </a:ext>
                  </a:extLst>
                </a:gridCol>
              </a:tblGrid>
              <a:tr h="1373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County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Town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Pre-growth population [2015, per OFM]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Current population [2015, per OFM]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Population growth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71625053"/>
                  </a:ext>
                </a:extLst>
              </a:tr>
              <a:tr h="1373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Adams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Othello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7780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9210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18.38046272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16065554"/>
                  </a:ext>
                </a:extLst>
              </a:tr>
              <a:tr h="1373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Asotin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Clarkston [Asotin PUD]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7235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7240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0.0691085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91650424"/>
                  </a:ext>
                </a:extLst>
              </a:tr>
              <a:tr h="1373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Cowlitz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Longview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37130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38310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3.178023162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48181710"/>
                  </a:ext>
                </a:extLst>
              </a:tr>
              <a:tr h="1373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Cowlitz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Woodland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5845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6585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12.6603935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52126898"/>
                  </a:ext>
                </a:extLst>
              </a:tr>
              <a:tr h="1373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Ferry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Republic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-8.256880734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29506303"/>
                  </a:ext>
                </a:extLst>
              </a:tr>
              <a:tr h="1373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Grays Harbor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Aberdeen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16780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2.502979738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2820395"/>
                  </a:ext>
                </a:extLst>
              </a:tr>
              <a:tr h="1373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Grays Harbor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Elma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3135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3535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12.75917065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09328468"/>
                  </a:ext>
                </a:extLst>
              </a:tr>
              <a:tr h="1373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Klickitat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White Salmon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2420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2565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5.991735537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92150876"/>
                  </a:ext>
                </a:extLst>
              </a:tr>
              <a:tr h="1373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Lincoln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Davenport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2.077151335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50192329"/>
                  </a:ext>
                </a:extLst>
              </a:tr>
              <a:tr h="1373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Lincoln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Wilbur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1.704545455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00622420"/>
                  </a:ext>
                </a:extLst>
              </a:tr>
              <a:tr h="1373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Okanogan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Omak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4900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4985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1.734693878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32466655"/>
                  </a:ext>
                </a:extLst>
              </a:tr>
              <a:tr h="1373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Okanogan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Oroville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1695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7.374631268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87758552"/>
                  </a:ext>
                </a:extLst>
              </a:tr>
              <a:tr h="1373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Okanogan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Tonasket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-1.801801802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07297814"/>
                  </a:ext>
                </a:extLst>
              </a:tr>
              <a:tr h="1373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Okanogan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Pateros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16.19047619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52055005"/>
                  </a:ext>
                </a:extLst>
              </a:tr>
              <a:tr h="1373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Okanogan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Winthrop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39.08045977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79921207"/>
                  </a:ext>
                </a:extLst>
              </a:tr>
              <a:tr h="145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Skamania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Skamania (PUD)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11430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12150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6.299212598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207600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E07A3C"/>
          </a:solidFill>
          <a:ln w="12700">
            <a:solidFill>
              <a:srgbClr val="E0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— Selling water to other towns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Inter-municipal water sales are uncommon in this sample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" y="1554480"/>
            <a:ext cx="5625691" cy="893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out of 17 respondents (82%) do not sell water outside of their service boundaries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respondents (23.5%) reported some form of inter-municipal water sale, with overlap on town sales vs other sales (often to individual customers)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the rural, low-density profile of the sample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does happen, it often reflects shared aquifer or PUD-style arrangements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32334" y="1231293"/>
            <a:ext cx="1046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sales to other towns: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GMA Public Works Survey  |  Descriptive Statistics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9A47471-AD9A-E997-8844-D3FED021C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58081"/>
              </p:ext>
            </p:extLst>
          </p:nvPr>
        </p:nvGraphicFramePr>
        <p:xfrm>
          <a:off x="566928" y="4107887"/>
          <a:ext cx="4660900" cy="2166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4022931910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391831408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82821133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312349688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County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Town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Selling water to other towns? (Y/N)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External water sales to individuals? (Y/N)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6620189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Asotin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Clarkston [Asotin PUD]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352363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Cowlitz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Longview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10038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Cowlitz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Woodland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439886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Okanogan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Tonasket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6252418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Okanogan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Winthrop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6727801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Skamania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Stevenson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39458775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D685585F-3016-906E-E8C4-7D8819D1E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4591"/>
            <a:ext cx="4292896" cy="33719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C4EA8CA-EE04-9D3B-F868-D5F0F53A1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575385"/>
            <a:ext cx="4292896" cy="3231624"/>
          </a:xfrm>
          <a:prstGeom prst="rect">
            <a:avLst/>
          </a:prstGeom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DC7900FE-6414-734A-8FA3-A2D49976BF3B}"/>
              </a:ext>
            </a:extLst>
          </p:cNvPr>
          <p:cNvSpPr/>
          <p:nvPr/>
        </p:nvSpPr>
        <p:spPr>
          <a:xfrm>
            <a:off x="6532334" y="4513908"/>
            <a:ext cx="951216" cy="487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sales to individual customers: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E07A3C"/>
          </a:solidFill>
          <a:ln w="12700">
            <a:solidFill>
              <a:srgbClr val="E0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 — Recent infrastructure expansion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towns have expanded — but only on connections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" y="1554480"/>
            <a:ext cx="9819556" cy="1085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17 respondents (65%) reported recent infrastructure expansion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expanders added connections — but few added supply or treatment capacity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water treatment expansions in the past decade (of the towns surveyed)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these systems are densifying use of existing supply rather than growing capacity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53981" y="3191979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expansion (among 10 expanders)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4032145587"/>
              </p:ext>
            </p:extLst>
          </p:nvPr>
        </p:nvGraphicFramePr>
        <p:xfrm>
          <a:off x="6096000" y="3557739"/>
          <a:ext cx="5486400" cy="3112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GMA Public Works Survey  |  Descriptive Statistics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6A2294A-D528-C333-0D42-1506ECEBFF65}"/>
              </a:ext>
            </a:extLst>
          </p:cNvPr>
          <p:cNvSpPr/>
          <p:nvPr/>
        </p:nvSpPr>
        <p:spPr>
          <a:xfrm>
            <a:off x="713231" y="3212547"/>
            <a:ext cx="3597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Towns &amp; PUDs expanding water infrastructure</a:t>
            </a:r>
            <a:endParaRPr lang="en-US" sz="13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3801469-1422-CD77-4C36-D9D0D6EBD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59479"/>
              </p:ext>
            </p:extLst>
          </p:nvPr>
        </p:nvGraphicFramePr>
        <p:xfrm>
          <a:off x="713231" y="3532586"/>
          <a:ext cx="4711291" cy="2584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9313">
                  <a:extLst>
                    <a:ext uri="{9D8B030D-6E8A-4147-A177-3AD203B41FA5}">
                      <a16:colId xmlns:a16="http://schemas.microsoft.com/office/drawing/2014/main" val="2205783021"/>
                    </a:ext>
                  </a:extLst>
                </a:gridCol>
                <a:gridCol w="1875271">
                  <a:extLst>
                    <a:ext uri="{9D8B030D-6E8A-4147-A177-3AD203B41FA5}">
                      <a16:colId xmlns:a16="http://schemas.microsoft.com/office/drawing/2014/main" val="2190593168"/>
                    </a:ext>
                  </a:extLst>
                </a:gridCol>
                <a:gridCol w="1926707">
                  <a:extLst>
                    <a:ext uri="{9D8B030D-6E8A-4147-A177-3AD203B41FA5}">
                      <a16:colId xmlns:a16="http://schemas.microsoft.com/office/drawing/2014/main" val="1670600934"/>
                    </a:ext>
                  </a:extLst>
                </a:gridCol>
              </a:tblGrid>
              <a:tr h="5468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County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Town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Water infrastructure expansion in last 10 years? (Y/N)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4112381"/>
                  </a:ext>
                </a:extLst>
              </a:tr>
              <a:tr h="1822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Adams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Othello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18283460"/>
                  </a:ext>
                </a:extLst>
              </a:tr>
              <a:tr h="1822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Asotin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Clarkston [Asotin PUD]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49782280"/>
                  </a:ext>
                </a:extLst>
              </a:tr>
              <a:tr h="1822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Cowlitz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Longview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68743579"/>
                  </a:ext>
                </a:extLst>
              </a:tr>
              <a:tr h="1822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Cowlitz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Woodland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03510252"/>
                  </a:ext>
                </a:extLst>
              </a:tr>
              <a:tr h="1822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Grays Harbor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Elma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34609187"/>
                  </a:ext>
                </a:extLst>
              </a:tr>
              <a:tr h="1822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Lincoln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Wilbur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53635196"/>
                  </a:ext>
                </a:extLst>
              </a:tr>
              <a:tr h="1822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Okanogan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Omak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29988098"/>
                  </a:ext>
                </a:extLst>
              </a:tr>
              <a:tr h="1822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Okanogan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Pateros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1574203"/>
                  </a:ext>
                </a:extLst>
              </a:tr>
              <a:tr h="178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Okanogan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Winthrop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61338265"/>
                  </a:ext>
                </a:extLst>
              </a:tr>
              <a:tr h="2273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Skamania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Skamania County PUD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Y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95313894"/>
                  </a:ext>
                </a:extLst>
              </a:tr>
              <a:tr h="808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Skamania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Stevenson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Y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084931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E07A3C"/>
          </a:solidFill>
          <a:ln w="12700">
            <a:solidFill>
              <a:srgbClr val="E0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Q6 — How expansion is funded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fees, SDCs, and grants dominate; impact fees and CFCs are rare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" y="155448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17 respondents (53%) provided funding-mechanism detail, involving an explicit understanding of the calculations used for them</a:t>
            </a:r>
          </a:p>
          <a:p>
            <a:pPr>
              <a:spcAft>
                <a:spcPts val="1200"/>
              </a:spcAft>
              <a:buSzPct val="100000"/>
            </a:pPr>
            <a:endParaRPr lang="en-US" sz="1600" dirty="0">
              <a:solidFill>
                <a:srgbClr val="1A2B3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200"/>
              </a:spcAft>
              <a:buSzPct val="100000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tool mix varies by town; no single mechanism dominates the field: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common: connection fees and SDCs (4 each), grants (4), and "other/edge case” arrangements (4)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CFCs are uncommon</a:t>
            </a:r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town levying impact fees is an interesting outlier (partial-GMA status tends to disallow this practice)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2648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mechanisms used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469280730"/>
              </p:ext>
            </p:extLst>
          </p:nvPr>
        </p:nvGraphicFramePr>
        <p:xfrm>
          <a:off x="6126480" y="192024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GMA Public Works Survey  |  Descriptive Statistics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E07A3C"/>
          </a:solidFill>
          <a:ln w="12700">
            <a:solidFill>
              <a:srgbClr val="E0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Q7 &amp; Q8 — Fee calculations and GIS tool use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 overall cost analysis; GIS is widespread but narrow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" y="155448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basis: overall cost analysis (4); ERUs cited just once</a:t>
            </a:r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handful of the people I surveyed knew the precise nature of HOW their funding methodology is calculated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endParaRPr lang="en-US" sz="1600" dirty="0">
              <a:solidFill>
                <a:srgbClr val="1A2B3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endParaRPr lang="en-US" sz="1600" dirty="0">
              <a:solidFill>
                <a:srgbClr val="1A2B3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200"/>
              </a:spcAft>
              <a:buSzPct val="100000"/>
            </a:pPr>
            <a:endParaRPr lang="en-US" sz="1600" dirty="0">
              <a:solidFill>
                <a:srgbClr val="1A2B3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Q8: 13 of 17 respondents (81%) use a GIS tool — high adoption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is used almost universally for meter location, but only around 50% of the time for asset valuation</a:t>
            </a:r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towns use a separate tool for their asset valuation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264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Q7: Fee calculation basis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548905931"/>
              </p:ext>
            </p:extLst>
          </p:nvPr>
        </p:nvGraphicFramePr>
        <p:xfrm>
          <a:off x="6126480" y="1874520"/>
          <a:ext cx="548640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12648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Q8: GIS tool use cases</a:t>
            </a:r>
            <a:endParaRPr lang="en-US" sz="1200" dirty="0"/>
          </a:p>
        </p:txBody>
      </p:sp>
      <p:graphicFrame>
        <p:nvGraphicFramePr>
          <p:cNvPr id="9" name="Chart 1"/>
          <p:cNvGraphicFramePr/>
          <p:nvPr>
            <p:extLst>
              <p:ext uri="{D42A27DB-BD31-4B8C-83A1-F6EECF244321}">
                <p14:modId xmlns:p14="http://schemas.microsoft.com/office/powerpoint/2010/main" val="3901696470"/>
              </p:ext>
            </p:extLst>
          </p:nvPr>
        </p:nvGraphicFramePr>
        <p:xfrm>
          <a:off x="6126480" y="4206240"/>
          <a:ext cx="548640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GMA Public Works Survey  |  Descriptive Statistics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FA788-DB30-C006-5F8A-A4C953FD1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C0F8A0-C03F-F5BE-B2BA-46067AE5B25B}"/>
              </a:ext>
            </a:extLst>
          </p:cNvPr>
          <p:cNvSpPr/>
          <p:nvPr/>
        </p:nvSpPr>
        <p:spPr>
          <a:xfrm>
            <a:off x="457200" y="502920"/>
            <a:ext cx="109728" cy="457200"/>
          </a:xfrm>
          <a:prstGeom prst="rect">
            <a:avLst/>
          </a:prstGeom>
          <a:solidFill>
            <a:srgbClr val="E07A3C"/>
          </a:solidFill>
          <a:ln w="12700">
            <a:solidFill>
              <a:srgbClr val="E0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F23AF46-EC59-C7F7-2484-B73DECD18BC5}"/>
              </a:ext>
            </a:extLst>
          </p:cNvPr>
          <p:cNvSpPr/>
          <p:nvPr/>
        </p:nvSpPr>
        <p:spPr>
          <a:xfrm>
            <a:off x="713232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Mann-Whitney (U) testing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69F60B4-3E80-4CB8-3616-B2DCB1ED5C3F}"/>
              </a:ext>
            </a:extLst>
          </p:cNvPr>
          <p:cNvSpPr/>
          <p:nvPr/>
        </p:nvSpPr>
        <p:spPr>
          <a:xfrm>
            <a:off x="457200" y="1005840"/>
            <a:ext cx="563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correlations between different Y/N responses and Overall Town debt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FD4697D-67AE-5F0D-4EBD-ED11F347A2C7}"/>
              </a:ext>
            </a:extLst>
          </p:cNvPr>
          <p:cNvSpPr/>
          <p:nvPr/>
        </p:nvSpPr>
        <p:spPr>
          <a:xfrm>
            <a:off x="566927" y="1463040"/>
            <a:ext cx="5180729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correlation between higher town debt and SDC adoption</a:t>
            </a:r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correlation between higher town debt and higher level of funding methodology calculation knowledge</a:t>
            </a:r>
          </a:p>
          <a:p>
            <a:pPr>
              <a:spcAft>
                <a:spcPts val="1200"/>
              </a:spcAft>
              <a:buSzPct val="100000"/>
            </a:pPr>
            <a:endParaRPr lang="en-US" sz="1600" dirty="0">
              <a:solidFill>
                <a:srgbClr val="1A2B3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200"/>
              </a:spcAft>
              <a:buSzPct val="100000"/>
            </a:pPr>
            <a:endParaRPr lang="en-US" sz="1600" dirty="0">
              <a:solidFill>
                <a:srgbClr val="1A2B3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200"/>
              </a:spcAft>
              <a:buSzPct val="100000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general:</a:t>
            </a:r>
          </a:p>
          <a:p>
            <a:pPr marL="342900" indent="-342900">
              <a:spcAft>
                <a:spcPts val="1200"/>
              </a:spcAft>
              <a:buSzPct val="100000"/>
              <a:buFontTx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data is from 2024, as that is what is most recently available</a:t>
            </a:r>
          </a:p>
          <a:p>
            <a:pPr marL="342900" indent="-342900">
              <a:spcAft>
                <a:spcPts val="1200"/>
              </a:spcAft>
              <a:buSzPct val="100000"/>
              <a:buFontTx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P-values are low for both -&gt; correlation can’t be proven reliably for either U-test</a:t>
            </a:r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!= Causation </a:t>
            </a:r>
          </a:p>
          <a:p>
            <a:pPr>
              <a:spcAft>
                <a:spcPts val="1200"/>
              </a:spcAft>
              <a:buSzPct val="100000"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More people skiing doesn’t cause more snow to fall -&gt; logic dictates how we interpret the relationship here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AE47A92-1D93-F583-2EB6-5461E29AB134}"/>
              </a:ext>
            </a:extLst>
          </p:cNvPr>
          <p:cNvSpPr/>
          <p:nvPr/>
        </p:nvSpPr>
        <p:spPr>
          <a:xfrm>
            <a:off x="6215672" y="-286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Q6: SDC use? (Y/N) as it correlates with high town debt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CE3252D-7E3E-9CA9-12BB-DF8389D774FC}"/>
              </a:ext>
            </a:extLst>
          </p:cNvPr>
          <p:cNvSpPr/>
          <p:nvPr/>
        </p:nvSpPr>
        <p:spPr>
          <a:xfrm>
            <a:off x="6217921" y="342302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Q7: Upfront fee calculation knowledge? (Y/N) as it correlates with high town debt</a:t>
            </a:r>
            <a:endParaRPr lang="en-US" sz="12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EE92F41-CF2E-C8E5-D1D6-88CB4B8C7239}"/>
              </a:ext>
            </a:extLst>
          </p:cNvPr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GMA Public Works Survey  |  Descriptive Statistics</a:t>
            </a:r>
            <a:endParaRPr lang="en-US" sz="9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129F61E-5E26-8D79-8CD4-C066F8156B97}"/>
              </a:ext>
            </a:extLst>
          </p:cNvPr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9EC6E5-4AC1-E541-2831-F0EB5E95B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672" y="228993"/>
            <a:ext cx="4770392" cy="32397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7E6FCF-B884-9751-239D-F447E4B75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1" y="3685101"/>
            <a:ext cx="4770392" cy="317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48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&amp; caveats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FB8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these descriptive statistics responsibly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is purposive, not random: 39 small, rural Washington towns (and 2-3 county-level PUDs among them). Findings don't generalize to urban or large-suburban utilities.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for useful data was 17 / 39 (41%).</a:t>
            </a:r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categorical answers (Y/N) carry my interviewer-coding judgment, especially on Q5 and Q6 where sub-mechanisms were sometimes inferred from open-ended explanation.</a:t>
            </a:r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comprehensive time-series analysis would be necessary to prove true correlation between funding method and effective debt alleviation</a:t>
            </a:r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WA_GMA_PW_Surveying_Data_Collection.xlsx, 'Full Survey Table' sheet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2621</TotalTime>
  <Words>1706</Words>
  <Application>Microsoft Office PowerPoint</Application>
  <PresentationFormat>Widescreen</PresentationFormat>
  <Paragraphs>301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 GMA Public Works Survey — Descriptive Statistics</dc:title>
  <dc:subject>PptxGenJS Presentation</dc:subject>
  <dc:creator>Survey Analysis</dc:creator>
  <cp:lastModifiedBy>Rowan Medlock</cp:lastModifiedBy>
  <cp:revision>14</cp:revision>
  <dcterms:created xsi:type="dcterms:W3CDTF">2026-05-26T16:59:12Z</dcterms:created>
  <dcterms:modified xsi:type="dcterms:W3CDTF">2026-07-16T06:26:24Z</dcterms:modified>
</cp:coreProperties>
</file>